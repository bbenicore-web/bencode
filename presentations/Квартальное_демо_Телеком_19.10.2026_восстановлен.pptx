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2"/>
    <p:sldId id="275" r:id="rId3"/>
    <p:sldId id="260" r:id="rId4"/>
    <p:sldId id="274" r:id="rId5"/>
    <p:sldId id="277" r:id="rId6"/>
    <p:sldId id="261" r:id="rId7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51"/>
  </p:normalViewPr>
  <p:slideViewPr>
    <p:cSldViewPr snapToGrid="0">
      <p:cViewPr varScale="1">
        <p:scale>
          <a:sx n="99" d="100"/>
          <a:sy n="99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C5438-BB04-BCC6-0969-9906E8989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A47D1-05BF-57E1-A4C5-59E5E8438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B0AE8-DABC-DD33-C9EB-AA4A414A9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6FA86-7B6E-D904-0504-E6371E6821B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18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F016A-AD15-EF60-A439-DF17A1F4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63814-7DF5-3C2B-841D-18017A4D5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4B20C-0FF2-B8BC-CA27-33C4E8F82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8D242-A208-7384-7CEC-88D6E7B5B96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914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5E1B4033-CDE9-4B41-BD7A-B3DC1A59EF32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Цифровая платформа клиентского опыта Телеком · Продуктовое направление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795610C3-C5F2-418B-94B4-B97F0F905476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Квартальное демо · 19.10.2026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05123C9-542C-421B-B3F6-AF8B31198222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Цифровая платформа клиентского опыта Телеком</a:t>
            </a:r>
            <a:r>
              <a:rPr lang="ru-RU"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24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576F09A3-38DE-484A-AA4F-49411073F80D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" action="ppaction://noaction"/>
            <a:extLst>
              <a:ext uri="{FF2B5EF4-FFF2-40B4-BE49-F238E27FC236}">
                <a16:creationId xmlns:a16="http://schemas.microsoft.com/office/drawing/2014/main" id="{BA89D98E-DA99-45C8-8996-3E1E3FF2B217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 dirty="0" err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900" b="0" u="sng" dirty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900" b="0" u="sng" dirty="0" err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900" b="0" u="sng" dirty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900" b="0" u="sng" dirty="0" err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900" b="0" u="sng" dirty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CE409948-341B-488C-9F72-05471BACD85C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02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277F4075-84F0-4EB5-B7CC-EEAF73254F8C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5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Цифровая среда пути клиента: от потребности до покупки, подключения и управления телеком-продуктами.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lang="ru-RU" sz="1275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lang="ru-RU" sz="1275" dirty="0">
                <a:solidFill>
                  <a:srgbClr val="5F5F5F"/>
                </a:solidFill>
                <a:latin typeface="Helvetica Neue"/>
              </a:rPr>
              <a:t/>
            </a:r>
            <a:endParaRPr sz="1275" b="0" dirty="0">
              <a:solidFill>
                <a:srgbClr val="5F5F5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products-rule">
            <a:extLst>
              <a:ext uri="{FF2B5EF4-FFF2-40B4-BE49-F238E27FC236}">
                <a16:creationId xmlns:a16="http://schemas.microsoft.com/office/drawing/2014/main" id="{DD2F998E-538F-493B-99B9-5F1D421AEBCD}"/>
              </a:ext>
            </a:extLst>
          </p:cNvPr>
          <p:cNvSpPr>
            <a:spLocks noGrp="1"/>
          </p:cNvSpPr>
          <p:nvPr/>
        </p:nvSpPr>
        <p:spPr>
          <a:xfrm>
            <a:off x="457200" y="1876425"/>
            <a:ext cx="11277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9" name="products-label">
            <a:extLst>
              <a:ext uri="{FF2B5EF4-FFF2-40B4-BE49-F238E27FC236}">
                <a16:creationId xmlns:a16="http://schemas.microsoft.com/office/drawing/2014/main" id="{C8BCCFBC-DEB3-4D5E-B1CC-5355AF5F225F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Продукты внутри направления</a:t>
            </a:r>
          </a:p>
        </p:txBody>
      </p:sp>
      <p:sp>
        <p:nvSpPr>
          <p:cNvPr id="10" name="product-surface-0">
            <a:extLst>
              <a:ext uri="{FF2B5EF4-FFF2-40B4-BE49-F238E27FC236}">
                <a16:creationId xmlns:a16="http://schemas.microsoft.com/office/drawing/2014/main" id="{9EA0A1CC-7533-4448-811E-D69F188F31B7}"/>
              </a:ext>
            </a:extLst>
          </p:cNvPr>
          <p:cNvSpPr>
            <a:spLocks noGrp="1"/>
          </p:cNvSpPr>
          <p:nvPr/>
        </p:nvSpPr>
        <p:spPr>
          <a:xfrm>
            <a:off x="457200" y="2447925"/>
            <a:ext cx="216408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1" name="product-field-0">
            <a:extLst>
              <a:ext uri="{FF2B5EF4-FFF2-40B4-BE49-F238E27FC236}">
                <a16:creationId xmlns:a16="http://schemas.microsoft.com/office/drawing/2014/main" id="{218BF7B7-7052-4583-B32D-A93D2C8D1151}"/>
              </a:ext>
            </a:extLst>
          </p:cNvPr>
          <p:cNvSpPr>
            <a:spLocks noGrp="1"/>
          </p:cNvSpPr>
          <p:nvPr/>
        </p:nvSpPr>
        <p:spPr>
          <a:xfrm>
            <a:off x="600075" y="2543175"/>
            <a:ext cx="187833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Мега5G</a:t>
            </a:r>
          </a:p>
        </p:txBody>
      </p:sp>
      <p:sp>
        <p:nvSpPr>
          <p:cNvPr id="16" name="field-rule-0">
            <a:extLst>
              <a:ext uri="{FF2B5EF4-FFF2-40B4-BE49-F238E27FC236}">
                <a16:creationId xmlns:a16="http://schemas.microsoft.com/office/drawing/2014/main" id="{2AF15C6E-308C-462D-BEF2-0CCA86A33115}"/>
              </a:ext>
            </a:extLst>
          </p:cNvPr>
          <p:cNvSpPr>
            <a:spLocks noGrp="1"/>
          </p:cNvSpPr>
          <p:nvPr/>
        </p:nvSpPr>
        <p:spPr>
          <a:xfrm>
            <a:off x="457200" y="3943350"/>
            <a:ext cx="5486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7" name="field-title-0">
            <a:extLst>
              <a:ext uri="{FF2B5EF4-FFF2-40B4-BE49-F238E27FC236}">
                <a16:creationId xmlns:a16="http://schemas.microsoft.com/office/drawing/2014/main" id="{41E7FE8D-C6A7-40B9-B18B-8D196CCC9634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5486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Цели</a:t>
            </a:r>
            <a:r>
              <a:rPr sz="15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направления</a:t>
            </a:r>
            <a:endParaRPr sz="15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field-value-0">
            <a:extLst>
              <a:ext uri="{FF2B5EF4-FFF2-40B4-BE49-F238E27FC236}">
                <a16:creationId xmlns:a16="http://schemas.microsoft.com/office/drawing/2014/main" id="{0E83B3F8-7BC7-4714-A386-FA74A42337CB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5486400" cy="14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lvl="0"/>
            <a:r>
              <a:rPr lang="ru-RU" sz="1200" b="1" dirty="0"/>
              <a:t>Облако тегов: </a:t>
            </a:r>
          </a:p>
          <a:p>
            <a:pPr lvl="0"/>
            <a:r>
              <a:rPr lang="ru-RU" sz="1200" b="1" dirty="0"/>
              <a:t>Для клиента: </a:t>
            </a:r>
            <a:r>
              <a:rPr lang="ru-RU" sz="1200" dirty="0"/>
              <a:t>Простое решение телеком-задач, удобный и понятный интерфейс, быстрый путь от потребности до подключения</a:t>
            </a:r>
          </a:p>
          <a:p>
            <a:r>
              <a:rPr lang="ru-RU" sz="1200" b="1" dirty="0"/>
              <a:t>Для бизнеса: </a:t>
            </a:r>
            <a:r>
              <a:rPr lang="ru-RU" sz="1200" dirty="0"/>
              <a:t>Эффективные продажи, быстрый вывод продуктов в </a:t>
            </a:r>
            <a:r>
              <a:rPr lang="ru-RU" sz="1200" dirty="0" err="1"/>
              <a:t>digital</a:t>
            </a:r>
            <a:r>
              <a:rPr lang="ru-RU" sz="1200" dirty="0"/>
              <a:t>, гибкая платформа для масштабирования.</a:t>
            </a:r>
          </a:p>
          <a:p>
            <a:endParaRPr lang="ru-RU" sz="1200" dirty="0"/>
          </a:p>
          <a:p>
            <a:endParaRPr lang="ru-RU" sz="1200" dirty="0"/>
          </a:p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sz="1200" b="0" dirty="0">
              <a:solidFill>
                <a:srgbClr val="6666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field-rule-1">
            <a:extLst>
              <a:ext uri="{FF2B5EF4-FFF2-40B4-BE49-F238E27FC236}">
                <a16:creationId xmlns:a16="http://schemas.microsoft.com/office/drawing/2014/main" id="{D2AE0626-6D9D-454D-80A0-B41C68711578}"/>
              </a:ext>
            </a:extLst>
          </p:cNvPr>
          <p:cNvSpPr>
            <a:spLocks noGrp="1"/>
          </p:cNvSpPr>
          <p:nvPr/>
        </p:nvSpPr>
        <p:spPr>
          <a:xfrm>
            <a:off x="6248400" y="3943350"/>
            <a:ext cx="5486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0" name="field-title-1">
            <a:extLst>
              <a:ext uri="{FF2B5EF4-FFF2-40B4-BE49-F238E27FC236}">
                <a16:creationId xmlns:a16="http://schemas.microsoft.com/office/drawing/2014/main" id="{48B02CC6-68DF-4885-9C5E-CA1C7F8A2FD4}"/>
              </a:ext>
            </a:extLst>
          </p:cNvPr>
          <p:cNvSpPr>
            <a:spLocks noGrp="1"/>
          </p:cNvSpPr>
          <p:nvPr/>
        </p:nvSpPr>
        <p:spPr>
          <a:xfrm>
            <a:off x="6248400" y="4171950"/>
            <a:ext cx="5486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Как поймём, что достигли цели</a:t>
            </a:r>
          </a:p>
        </p:txBody>
      </p:sp>
      <p:sp>
        <p:nvSpPr>
          <p:cNvPr id="21" name="field-value-1">
            <a:extLst>
              <a:ext uri="{FF2B5EF4-FFF2-40B4-BE49-F238E27FC236}">
                <a16:creationId xmlns:a16="http://schemas.microsoft.com/office/drawing/2014/main" id="{57044201-AE18-4876-A2BF-10B2D24F666B}"/>
              </a:ext>
            </a:extLst>
          </p:cNvPr>
          <p:cNvSpPr>
            <a:spLocks noGrp="1"/>
          </p:cNvSpPr>
          <p:nvPr/>
        </p:nvSpPr>
        <p:spPr>
          <a:xfrm>
            <a:off x="6248400" y="4572000"/>
            <a:ext cx="5486400" cy="14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0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MEU направления</a:t>
            </a:r>
            <a:r>
              <a:rPr lang="ru-RU" sz="120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CSI направления</a:t>
            </a:r>
            <a:r>
              <a:rPr lang="ru-RU" sz="120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120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Ключевые запуски выходят в срок.</a:t>
            </a:r>
            <a:endParaRPr sz="1200" b="0" dirty="0">
              <a:solidFill>
                <a:srgbClr val="6666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product-surface-1">
            <a:extLst>
              <a:ext uri="{FF2B5EF4-FFF2-40B4-BE49-F238E27FC236}">
                <a16:creationId xmlns:a16="http://schemas.microsoft.com/office/drawing/2014/main" id="{9EA0A1CC-7533-4448-811E-D69F188F31B7}"/>
              </a:ext>
            </a:extLst>
          </p:cNvPr>
          <p:cNvSpPr>
            <a:spLocks noGrp="1"/>
          </p:cNvSpPr>
          <p:nvPr/>
        </p:nvSpPr>
        <p:spPr>
          <a:xfrm>
            <a:off x="2735580" y="2447925"/>
            <a:ext cx="320040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4" name="product-field-1">
            <a:extLst>
              <a:ext uri="{FF2B5EF4-FFF2-40B4-BE49-F238E27FC236}">
                <a16:creationId xmlns:a16="http://schemas.microsoft.com/office/drawing/2014/main" id="{218BF7B7-7052-4583-B32D-A93D2C8D1151}"/>
              </a:ext>
            </a:extLst>
          </p:cNvPr>
          <p:cNvSpPr>
            <a:spLocks noGrp="1"/>
          </p:cNvSpPr>
          <p:nvPr/>
        </p:nvSpPr>
        <p:spPr>
          <a:xfrm>
            <a:off x="2878455" y="2543175"/>
            <a:ext cx="29146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Дом групповых продуктов</a:t>
            </a:r>
          </a:p>
        </p:txBody>
      </p:sp>
      <p:sp>
        <p:nvSpPr>
          <p:cNvPr id="25" name="product-surface-2">
            <a:extLst>
              <a:ext uri="{FF2B5EF4-FFF2-40B4-BE49-F238E27FC236}">
                <a16:creationId xmlns:a16="http://schemas.microsoft.com/office/drawing/2014/main" id="{9EA0A1CC-7533-4448-811E-D69F188F31B7}"/>
              </a:ext>
            </a:extLst>
          </p:cNvPr>
          <p:cNvSpPr>
            <a:spLocks noGrp="1"/>
          </p:cNvSpPr>
          <p:nvPr/>
        </p:nvSpPr>
        <p:spPr>
          <a:xfrm>
            <a:off x="6050280" y="2447925"/>
            <a:ext cx="250000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6" name="product-field-2">
            <a:extLst>
              <a:ext uri="{FF2B5EF4-FFF2-40B4-BE49-F238E27FC236}">
                <a16:creationId xmlns:a16="http://schemas.microsoft.com/office/drawing/2014/main" id="{218BF7B7-7052-4583-B32D-A93D2C8D1151}"/>
              </a:ext>
            </a:extLst>
          </p:cNvPr>
          <p:cNvSpPr>
            <a:spLocks noGrp="1"/>
          </p:cNvSpPr>
          <p:nvPr/>
        </p:nvSpPr>
        <p:spPr>
          <a:xfrm>
            <a:off x="6193155" y="2543175"/>
            <a:ext cx="2214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Единый заказ СИМ</a:t>
            </a:r>
          </a:p>
        </p:txBody>
      </p:sp>
      <p:sp>
        <p:nvSpPr>
          <p:cNvPr id="12" name="product-surface-2">
            <a:extLst>
              <a:ext uri="{FF2B5EF4-FFF2-40B4-BE49-F238E27FC236}">
                <a16:creationId xmlns:a16="http://schemas.microsoft.com/office/drawing/2014/main" id="{C3ED2E0E-1797-7221-C4AA-DCAB0B8EEF1D}"/>
              </a:ext>
            </a:extLst>
          </p:cNvPr>
          <p:cNvSpPr>
            <a:spLocks noGrp="1"/>
          </p:cNvSpPr>
          <p:nvPr/>
        </p:nvSpPr>
        <p:spPr>
          <a:xfrm>
            <a:off x="457200" y="3091963"/>
            <a:ext cx="250000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120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Тарифы</a:t>
            </a:r>
            <a:endParaRPr lang="en-JP" sz="1200">
              <a:solidFill>
                <a:srgbClr val="6666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product-surface-2">
            <a:extLst>
              <a:ext uri="{FF2B5EF4-FFF2-40B4-BE49-F238E27FC236}">
                <a16:creationId xmlns:a16="http://schemas.microsoft.com/office/drawing/2014/main" id="{020B78CE-3DE9-E3C7-46F3-F0B926469F5B}"/>
              </a:ext>
            </a:extLst>
          </p:cNvPr>
          <p:cNvSpPr>
            <a:spLocks noGrp="1"/>
          </p:cNvSpPr>
          <p:nvPr/>
        </p:nvSpPr>
        <p:spPr>
          <a:xfrm>
            <a:off x="3085780" y="3048000"/>
            <a:ext cx="250000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r>
              <a:rPr lang="ru-RU" dirty="0"/>
              <a:t>Монетизация</a:t>
            </a:r>
            <a:endParaRPr lang="en-JP"/>
          </a:p>
        </p:txBody>
      </p:sp>
      <p:sp>
        <p:nvSpPr>
          <p:cNvPr id="14" name="product-surface-2">
            <a:extLst>
              <a:ext uri="{FF2B5EF4-FFF2-40B4-BE49-F238E27FC236}">
                <a16:creationId xmlns:a16="http://schemas.microsoft.com/office/drawing/2014/main" id="{1AFB905B-B474-0BB4-7E79-23F410BC9D2B}"/>
              </a:ext>
            </a:extLst>
          </p:cNvPr>
          <p:cNvSpPr>
            <a:spLocks noGrp="1"/>
          </p:cNvSpPr>
          <p:nvPr/>
        </p:nvSpPr>
        <p:spPr>
          <a:xfrm>
            <a:off x="5793105" y="3047799"/>
            <a:ext cx="250000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r>
              <a:rPr lang="ru-RU" dirty="0"/>
              <a:t>Домашний интернет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0976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18740-B26D-4796-A7B5-1E041CC8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6F902F4D-F591-3C45-C76A-CD7135F7810B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Цифровая платформа клиентского опыта Телеком · Результаты Q3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1047741E-4606-0C85-A69F-8B8C3ED8B2EE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Инициативы, релизы, запуски и исследования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C8A733F-9AEE-E327-CC18-D210749B08D6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планировали</a:t>
            </a: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</a:t>
            </a: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получили</a:t>
            </a: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в</a:t>
            </a: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Q3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EB08503E-BB95-8DEE-B99D-0CC106A49857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E211E20A-68F8-FBB1-C619-9875E4AEA9C2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05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F0D76D0E-50EA-4395-C4C4-ADBB73FB3C24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5D000D3-9CD8-EEE9-DF51-7B0065BD2E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0685260"/>
              </p:ext>
            </p:extLst>
          </p:nvPr>
        </p:nvGraphicFramePr>
        <p:xfrm>
          <a:off x="457200" y="1752600"/>
          <a:ext cx="11277600" cy="1452436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планировали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получили по факту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Статус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 поддержки портфеля «Мега5G»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Обеспечить запуск к РК 21.09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Витрина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приложении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лендинг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сайте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старту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РК 21.09. Точки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входа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: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виджет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главной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блок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«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Услугах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».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Выбор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: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опция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30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дней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или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разовое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ускорение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Х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часов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  <a:endParaRPr sz="1125" b="0" dirty="0">
                        <a:solidFill>
                          <a:srgbClr val="666666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" name="Picture 19" descr="image4.png">
            <a:extLst>
              <a:ext uri="{FF2B5EF4-FFF2-40B4-BE49-F238E27FC236}">
                <a16:creationId xmlns:a16="http://schemas.microsoft.com/office/drawing/2014/main" id="{5152A311-5DED-418D-1B6E-C52C82D49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28389"/>
            <a:ext cx="1345842" cy="2920765"/>
          </a:xfrm>
          <a:prstGeom prst="rect">
            <a:avLst/>
          </a:prstGeom>
        </p:spPr>
      </p:pic>
      <p:pic>
        <p:nvPicPr>
          <p:cNvPr id="21" name="Picture 20" descr="image5.png">
            <a:extLst>
              <a:ext uri="{FF2B5EF4-FFF2-40B4-BE49-F238E27FC236}">
                <a16:creationId xmlns:a16="http://schemas.microsoft.com/office/drawing/2014/main" id="{B5AFAAFF-EAC9-6BC2-CDA4-234472295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204" y="3320442"/>
            <a:ext cx="1345842" cy="2920765"/>
          </a:xfrm>
          <a:prstGeom prst="rect">
            <a:avLst/>
          </a:prstGeom>
        </p:spPr>
      </p:pic>
      <p:sp>
        <p:nvSpPr>
          <p:cNvPr id="8" name="product-surface-2">
            <a:extLst>
              <a:ext uri="{FF2B5EF4-FFF2-40B4-BE49-F238E27FC236}">
                <a16:creationId xmlns:a16="http://schemas.microsoft.com/office/drawing/2014/main" id="{4079AFE2-3EF1-A9EF-F990-4C89BC3B85E3}"/>
              </a:ext>
            </a:extLst>
          </p:cNvPr>
          <p:cNvSpPr>
            <a:spLocks noGrp="1"/>
          </p:cNvSpPr>
          <p:nvPr/>
        </p:nvSpPr>
        <p:spPr>
          <a:xfrm>
            <a:off x="3579391" y="3328389"/>
            <a:ext cx="1852613" cy="1687899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r>
              <a:rPr lang="ru-RU" dirty="0"/>
              <a:t>ЛК: главная с выделенным виджетом</a:t>
            </a:r>
            <a:endParaRPr lang="en-JP"/>
          </a:p>
        </p:txBody>
      </p:sp>
      <p:sp>
        <p:nvSpPr>
          <p:cNvPr id="10" name="product-surface-2">
            <a:extLst>
              <a:ext uri="{FF2B5EF4-FFF2-40B4-BE49-F238E27FC236}">
                <a16:creationId xmlns:a16="http://schemas.microsoft.com/office/drawing/2014/main" id="{48B9684B-FCF9-6DB9-1ABB-38BFC63FD32F}"/>
              </a:ext>
            </a:extLst>
          </p:cNvPr>
          <p:cNvSpPr>
            <a:spLocks noGrp="1"/>
          </p:cNvSpPr>
          <p:nvPr/>
        </p:nvSpPr>
        <p:spPr>
          <a:xfrm>
            <a:off x="3733736" y="4912926"/>
            <a:ext cx="1852613" cy="1687899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r>
              <a:rPr lang="ru-RU" dirty="0"/>
              <a:t>Лендинг на сайте</a:t>
            </a:r>
            <a:endParaRPr lang="en-JP"/>
          </a:p>
        </p:txBody>
      </p:sp>
      <p:sp>
        <p:nvSpPr>
          <p:cNvPr id="11" name="product-surface-2">
            <a:extLst>
              <a:ext uri="{FF2B5EF4-FFF2-40B4-BE49-F238E27FC236}">
                <a16:creationId xmlns:a16="http://schemas.microsoft.com/office/drawing/2014/main" id="{6F23EB07-028C-F4B3-101E-57CF0FB7F8BD}"/>
              </a:ext>
            </a:extLst>
          </p:cNvPr>
          <p:cNvSpPr>
            <a:spLocks noGrp="1"/>
          </p:cNvSpPr>
          <p:nvPr/>
        </p:nvSpPr>
        <p:spPr>
          <a:xfrm>
            <a:off x="5740694" y="3423357"/>
            <a:ext cx="1852613" cy="1687899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r>
              <a:rPr lang="ru-RU" dirty="0"/>
              <a:t>Продуктовая страница Мега5</a:t>
            </a:r>
            <a:r>
              <a:rPr lang="en-US" dirty="0"/>
              <a:t>G, </a:t>
            </a:r>
            <a:r>
              <a:rPr lang="ru-RU" dirty="0"/>
              <a:t>Город</a:t>
            </a:r>
            <a:r>
              <a:rPr lang="en-US" dirty="0"/>
              <a:t>5G</a:t>
            </a:r>
            <a:r>
              <a:rPr lang="ru-RU" dirty="0"/>
              <a:t>, Кино5</a:t>
            </a:r>
            <a:r>
              <a:rPr lang="en-US" dirty="0"/>
              <a:t>G</a:t>
            </a:r>
            <a:endParaRPr lang="en-JP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C47955F3-3141-2EAB-A5AB-164FA81BA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7460"/>
              </p:ext>
            </p:extLst>
          </p:nvPr>
        </p:nvGraphicFramePr>
        <p:xfrm>
          <a:off x="8029575" y="3570731"/>
          <a:ext cx="3772437" cy="2531048"/>
        </p:xfrm>
        <a:graphic>
          <a:graphicData uri="http://schemas.openxmlformats.org/drawingml/2006/table">
            <a:tbl>
              <a:tblPr/>
              <a:tblGrid>
                <a:gridCol w="1376430">
                  <a:extLst>
                    <a:ext uri="{9D8B030D-6E8A-4147-A177-3AD203B41FA5}">
                      <a16:colId xmlns:a16="http://schemas.microsoft.com/office/drawing/2014/main" val="3017700083"/>
                    </a:ext>
                  </a:extLst>
                </a:gridCol>
                <a:gridCol w="764683">
                  <a:extLst>
                    <a:ext uri="{9D8B030D-6E8A-4147-A177-3AD203B41FA5}">
                      <a16:colId xmlns:a16="http://schemas.microsoft.com/office/drawing/2014/main" val="753955501"/>
                    </a:ext>
                  </a:extLst>
                </a:gridCol>
                <a:gridCol w="764683">
                  <a:extLst>
                    <a:ext uri="{9D8B030D-6E8A-4147-A177-3AD203B41FA5}">
                      <a16:colId xmlns:a16="http://schemas.microsoft.com/office/drawing/2014/main" val="1242598027"/>
                    </a:ext>
                  </a:extLst>
                </a:gridCol>
                <a:gridCol w="866641">
                  <a:extLst>
                    <a:ext uri="{9D8B030D-6E8A-4147-A177-3AD203B41FA5}">
                      <a16:colId xmlns:a16="http://schemas.microsoft.com/office/drawing/2014/main" val="3546813030"/>
                    </a:ext>
                  </a:extLst>
                </a:gridCol>
              </a:tblGrid>
              <a:tr h="319937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Метрика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цель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Факт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15335"/>
                  </a:ext>
                </a:extLst>
              </a:tr>
              <a:tr h="55982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 dirty="0" err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  <a:endParaRPr sz="900" b="1" dirty="0">
                        <a:solidFill>
                          <a:srgbClr val="01873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Подключения</a:t>
                      </a:r>
                      <a:endParaRPr sz="1125" b="0" dirty="0">
                        <a:solidFill>
                          <a:srgbClr val="666666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  <a:r>
                        <a:rPr lang="ru-RU"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lang="ru-RU"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тыс</a:t>
                      </a:r>
                      <a:endParaRPr sz="1125" b="0" dirty="0">
                        <a:solidFill>
                          <a:srgbClr val="666666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  <a:r>
                        <a:rPr lang="ru-RU"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lang="ru-RU"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тыс</a:t>
                      </a:r>
                      <a:endParaRPr sz="1125" b="0" dirty="0">
                        <a:solidFill>
                          <a:srgbClr val="666666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948093"/>
                  </a:ext>
                </a:extLst>
              </a:tr>
              <a:tr h="55982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Конверсия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2,45%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687857"/>
                  </a:ext>
                </a:extLst>
              </a:tr>
              <a:tr h="55982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Бизнес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GM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млн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 млн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dirty="0"/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7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42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9E516BAD-AC21-428E-ADC1-EB1E8D2ADB0B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Цифровая платформа клиентского опыта Телеком · Результаты Q3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11065353-9CF7-4A8F-B620-83F0709BB55B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Инициативы, релизы, запуски и исследования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653E68-CC07-4D12-8EE0-E37A7ED2F0F6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планировали и что получили в Q3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1B66E779-8612-4A79-91C5-2D4F0487529D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9C26502-111F-4FD7-85AA-06B1321BAEB2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05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8B07A0F0-E87F-46FB-BE33-5BDEE2AF6BC6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graphicFrame>
        <p:nvGraphicFramePr>
          <p:cNvPr id="19" name="Table 18"/>
          <p:cNvGraphicFramePr/>
          <p:nvPr>
            <p:extLst>
              <p:ext uri="{D42A27DB-BD31-4B8C-83A1-F6EECF244321}">
                <p14:modId xmlns:p14="http://schemas.microsoft.com/office/powerpoint/2010/main" val="3858692801"/>
              </p:ext>
            </p:extLst>
          </p:nvPr>
        </p:nvGraphicFramePr>
        <p:xfrm>
          <a:off x="457200" y="1752600"/>
          <a:ext cx="11277600" cy="1771480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планировали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получили по факту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Статус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00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Единый заказ СИМ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dirty="0"/>
                        <a:t>Запустить Единый сценарий оформления СИМ</a:t>
                      </a:r>
                      <a:endParaRPr dirty="0"/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 MegaFon.ru запустили сценарии заказа СИМ. Сценарий переработан, первые экраны показывают суть, выгоды и ограничения. Точки входа на главной. Запущены MNP и SIM.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  <a:endParaRPr sz="1125" b="0" dirty="0">
                        <a:solidFill>
                          <a:srgbClr val="666666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13" descr="s2-pic1.png">
            <a:extLst>
              <a:ext uri="{FF2B5EF4-FFF2-40B4-BE49-F238E27FC236}">
                <a16:creationId xmlns:a16="http://schemas.microsoft.com/office/drawing/2014/main" id="{219E6E18-6CAB-D50C-DF85-5056E048C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90" y="3256369"/>
            <a:ext cx="1625754" cy="3478817"/>
          </a:xfrm>
          <a:prstGeom prst="rect">
            <a:avLst/>
          </a:prstGeom>
        </p:spPr>
      </p:pic>
      <p:pic>
        <p:nvPicPr>
          <p:cNvPr id="10" name="Picture 14" descr="s2-pic3.png">
            <a:extLst>
              <a:ext uri="{FF2B5EF4-FFF2-40B4-BE49-F238E27FC236}">
                <a16:creationId xmlns:a16="http://schemas.microsoft.com/office/drawing/2014/main" id="{DFE2C86C-F593-5A09-0D7F-9EAF16CC8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907" y="3256369"/>
            <a:ext cx="1598774" cy="3478817"/>
          </a:xfrm>
          <a:prstGeom prst="rect">
            <a:avLst/>
          </a:prstGeom>
        </p:spPr>
      </p:pic>
      <p:pic>
        <p:nvPicPr>
          <p:cNvPr id="11" name="Picture 15" descr="s2-pic2.png">
            <a:extLst>
              <a:ext uri="{FF2B5EF4-FFF2-40B4-BE49-F238E27FC236}">
                <a16:creationId xmlns:a16="http://schemas.microsoft.com/office/drawing/2014/main" id="{17B76402-9253-AA9F-588C-18FBCDD99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011" y="3256369"/>
            <a:ext cx="1581728" cy="3478817"/>
          </a:xfrm>
          <a:prstGeom prst="rect">
            <a:avLst/>
          </a:prstGeom>
        </p:spPr>
      </p:pic>
      <p:graphicFrame>
        <p:nvGraphicFramePr>
          <p:cNvPr id="13" name="Table 16">
            <a:extLst>
              <a:ext uri="{FF2B5EF4-FFF2-40B4-BE49-F238E27FC236}">
                <a16:creationId xmlns:a16="http://schemas.microsoft.com/office/drawing/2014/main" id="{568249D3-DFB3-2283-B831-2E38EA5668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3095837"/>
              </p:ext>
            </p:extLst>
          </p:nvPr>
        </p:nvGraphicFramePr>
        <p:xfrm>
          <a:off x="7813451" y="4136927"/>
          <a:ext cx="3807018" cy="1642936"/>
        </p:xfrm>
        <a:graphic>
          <a:graphicData uri="http://schemas.openxmlformats.org/drawingml/2006/table">
            <a:tbl>
              <a:tblPr/>
              <a:tblGrid>
                <a:gridCol w="1389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973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Метрика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цель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Факт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838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Единый заказ СИМ · Конверсия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product-surface-2">
            <a:extLst>
              <a:ext uri="{FF2B5EF4-FFF2-40B4-BE49-F238E27FC236}">
                <a16:creationId xmlns:a16="http://schemas.microsoft.com/office/drawing/2014/main" id="{92325F0E-EF4D-4FD2-3B05-7BBA2866D785}"/>
              </a:ext>
            </a:extLst>
          </p:cNvPr>
          <p:cNvSpPr>
            <a:spLocks noGrp="1"/>
          </p:cNvSpPr>
          <p:nvPr/>
        </p:nvSpPr>
        <p:spPr>
          <a:xfrm>
            <a:off x="6779575" y="3620952"/>
            <a:ext cx="857597" cy="2036865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r>
              <a:rPr lang="ru-RU" dirty="0"/>
              <a:t>CJ MNP</a:t>
            </a:r>
            <a:r>
              <a:rPr lang="en-US" dirty="0"/>
              <a:t/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274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9E516BAD-AC21-428E-ADC1-EB1E8D2ADB0B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Цифровая платформа клиентского опыта Телеком · Демо Q3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11065353-9CF7-4A8F-B620-83F0709BB55B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Макет команды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653E68-CC07-4D12-8EE0-E37A7ED2F0F6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Сравнение сценария заказа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1B66E779-8612-4A79-91C5-2D4F0487529D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" action="ppaction://hlinksldjump"/>
            <a:extLst>
              <a:ext uri="{FF2B5EF4-FFF2-40B4-BE49-F238E27FC236}">
                <a16:creationId xmlns:a16="http://schemas.microsoft.com/office/drawing/2014/main" id="{A144CE90-B6FD-421A-A2FC-A83FDC78F90E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К результату Q3 · стр. 05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9C26502-111F-4FD7-85AA-06B1321BAEB2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демо</a:t>
            </a:r>
          </a:p>
        </p:txBody>
      </p:sp>
      <p:sp>
        <p:nvSpPr>
          <p:cNvPr id="13" name="intro">
            <a:extLst>
              <a:ext uri="{FF2B5EF4-FFF2-40B4-BE49-F238E27FC236}">
                <a16:creationId xmlns:a16="http://schemas.microsoft.com/office/drawing/2014/main" id="{8B07A0F0-E87F-46FB-BE33-5BDEE2AF6BC6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Конверсия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нового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сценария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выше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Цифры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с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этого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слайда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в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таблицу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метрик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не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0" dirty="0" err="1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перенесены</a:t>
            </a:r>
            <a:r>
              <a:rPr sz="1275" b="0" dirty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pic>
        <p:nvPicPr>
          <p:cNvPr id="14" name="Picture 13" descr="s3-pi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436" y="1850000"/>
            <a:ext cx="7431127" cy="43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803D9-BBC4-6B9F-7925-0845EDED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41655D1E-B509-7A08-AB0F-A8913CDCAB88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Цифровая платформа клиентского опыта Телеком · Результаты Q3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9E3A6628-3E18-21CF-05EA-41D4C2578970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Инициативы, релизы, запуски и исследования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4608B4-CA71-9AC8-A6F2-4B77410B3906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планировали и что получили в Q3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597C8B20-5180-E8D9-233E-D247607ACFA2}"/>
              </a:ext>
            </a:extLst>
          </p:cNvPr>
          <p:cNvSpPr>
            <a:spLocks noGrp="1"/>
          </p:cNvSpPr>
          <p:nvPr/>
        </p:nvSpPr>
        <p:spPr>
          <a:xfrm>
            <a:off x="410250" y="5976937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AAB0EAB9-B642-149A-9F78-BD66F9E5CEE3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05 / 14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A8CAF94-CEC3-E556-6724-4939EF43C6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1530168"/>
              </p:ext>
            </p:extLst>
          </p:nvPr>
        </p:nvGraphicFramePr>
        <p:xfrm>
          <a:off x="410250" y="1262062"/>
          <a:ext cx="11277600" cy="1858836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планировали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получили по факту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Статус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0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МегаСемья 2.0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Запустить первую версию МегаСемьи 2.0 к рекламной кампании 21.07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Запустили семейную платформу с расширенным набором опций по управлению номерами близких. Каждому члену семьи можно назначить персональную роль, готовые настройки которой соответствуют запросам на безопасность и заботу о близких. Релиз 23.07.2026.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  <a:endParaRPr sz="1125" b="0" dirty="0">
                        <a:solidFill>
                          <a:srgbClr val="666666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18873"/>
                  </a:ext>
                </a:extLst>
              </a:tr>
            </a:tbl>
          </a:graphicData>
        </a:graphic>
      </p:graphicFrame>
      <p:pic>
        <p:nvPicPr>
          <p:cNvPr id="8" name="Picture 13" descr="pic1.png">
            <a:extLst>
              <a:ext uri="{FF2B5EF4-FFF2-40B4-BE49-F238E27FC236}">
                <a16:creationId xmlns:a16="http://schemas.microsoft.com/office/drawing/2014/main" id="{99B52E8B-3706-890F-B307-C5B9866BB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541" y="2875763"/>
            <a:ext cx="1548043" cy="3491699"/>
          </a:xfrm>
          <a:prstGeom prst="rect">
            <a:avLst/>
          </a:prstGeom>
        </p:spPr>
      </p:pic>
      <p:pic>
        <p:nvPicPr>
          <p:cNvPr id="10" name="Picture 14" descr="pic2.png">
            <a:extLst>
              <a:ext uri="{FF2B5EF4-FFF2-40B4-BE49-F238E27FC236}">
                <a16:creationId xmlns:a16="http://schemas.microsoft.com/office/drawing/2014/main" id="{EB524F3F-2944-709B-F738-DF52DF1CB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055" y="2790038"/>
            <a:ext cx="1196015" cy="3491699"/>
          </a:xfrm>
          <a:prstGeom prst="rect">
            <a:avLst/>
          </a:prstGeom>
        </p:spPr>
      </p:pic>
      <p:pic>
        <p:nvPicPr>
          <p:cNvPr id="11" name="Picture 15" descr="pic3.png">
            <a:extLst>
              <a:ext uri="{FF2B5EF4-FFF2-40B4-BE49-F238E27FC236}">
                <a16:creationId xmlns:a16="http://schemas.microsoft.com/office/drawing/2014/main" id="{62139498-E4D4-00D9-09E4-A955A3AF3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50" y="2485238"/>
            <a:ext cx="1756215" cy="3491699"/>
          </a:xfrm>
          <a:prstGeom prst="rect">
            <a:avLst/>
          </a:prstGeom>
        </p:spPr>
      </p:pic>
      <p:sp>
        <p:nvSpPr>
          <p:cNvPr id="13" name="product-surface-2">
            <a:extLst>
              <a:ext uri="{FF2B5EF4-FFF2-40B4-BE49-F238E27FC236}">
                <a16:creationId xmlns:a16="http://schemas.microsoft.com/office/drawing/2014/main" id="{38106E71-C026-D16C-8DF8-FF161584B9C4}"/>
              </a:ext>
            </a:extLst>
          </p:cNvPr>
          <p:cNvSpPr>
            <a:spLocks noGrp="1"/>
          </p:cNvSpPr>
          <p:nvPr/>
        </p:nvSpPr>
        <p:spPr>
          <a:xfrm>
            <a:off x="4791291" y="4165214"/>
            <a:ext cx="1852613" cy="1687899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r>
              <a:rPr lang="ru-RU" dirty="0"/>
              <a:t>Главный экран </a:t>
            </a:r>
          </a:p>
          <a:p>
            <a:r>
              <a:rPr lang="ru-RU" dirty="0"/>
              <a:t>Дом групповых продуктов</a:t>
            </a:r>
            <a:endParaRPr lang="en-JP"/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CB8F93B2-2EC8-5449-00CE-D7C33D032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676755"/>
              </p:ext>
            </p:extLst>
          </p:nvPr>
        </p:nvGraphicFramePr>
        <p:xfrm>
          <a:off x="6849611" y="3276491"/>
          <a:ext cx="4885189" cy="2518792"/>
        </p:xfrm>
        <a:graphic>
          <a:graphicData uri="http://schemas.openxmlformats.org/drawingml/2006/table">
            <a:tbl>
              <a:tblPr/>
              <a:tblGrid>
                <a:gridCol w="1782434">
                  <a:extLst>
                    <a:ext uri="{9D8B030D-6E8A-4147-A177-3AD203B41FA5}">
                      <a16:colId xmlns:a16="http://schemas.microsoft.com/office/drawing/2014/main" val="3084859883"/>
                    </a:ext>
                  </a:extLst>
                </a:gridCol>
                <a:gridCol w="990241">
                  <a:extLst>
                    <a:ext uri="{9D8B030D-6E8A-4147-A177-3AD203B41FA5}">
                      <a16:colId xmlns:a16="http://schemas.microsoft.com/office/drawing/2014/main" val="1424440109"/>
                    </a:ext>
                  </a:extLst>
                </a:gridCol>
                <a:gridCol w="990241">
                  <a:extLst>
                    <a:ext uri="{9D8B030D-6E8A-4147-A177-3AD203B41FA5}">
                      <a16:colId xmlns:a16="http://schemas.microsoft.com/office/drawing/2014/main" val="475627780"/>
                    </a:ext>
                  </a:extLst>
                </a:gridCol>
                <a:gridCol w="1122273">
                  <a:extLst>
                    <a:ext uri="{9D8B030D-6E8A-4147-A177-3AD203B41FA5}">
                      <a16:colId xmlns:a16="http://schemas.microsoft.com/office/drawing/2014/main" val="2114495497"/>
                    </a:ext>
                  </a:extLst>
                </a:gridCol>
              </a:tblGrid>
              <a:tr h="379788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Метрика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цель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Факт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088509"/>
                  </a:ext>
                </a:extLst>
              </a:tr>
              <a:tr h="784955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Дом групповых продуктов · Конверсия в назначение роли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59321"/>
                  </a:ext>
                </a:extLst>
              </a:tr>
              <a:tr h="784955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lang="ru-RU" sz="900" b="1" dirty="0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Бизнес</a:t>
                      </a:r>
                      <a:endParaRPr sz="900" b="1" dirty="0">
                        <a:solidFill>
                          <a:srgbClr val="01873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Дом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групповых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·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Подключения</a:t>
                      </a:r>
                      <a:endParaRPr sz="1125" b="0" dirty="0">
                        <a:solidFill>
                          <a:srgbClr val="666666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770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200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BF6EA01B-D9DF-478A-A66C-E5D21D9166BC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Цифровая платформа клиентского опыта Телеком · Планы Q4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E55312B8-1932-4510-9780-5B57FCFEE6DD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Инициативы, релизы, запуски и исследования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A1E1F8B-E27B-4BA3-A348-0387ECA164BA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планируем получить в Q4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AE5520AC-4452-4241-B64F-9C6495510EC0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4F320230-A3B7-4195-AD38-0E78D5280855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06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079647BB-E1F6-4F45-B175-CCEB6F944B5D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graphicFrame>
        <p:nvGraphicFramePr>
          <p:cNvPr id="19" name="Table 18"/>
          <p:cNvGraphicFramePr/>
          <p:nvPr>
            <p:extLst>
              <p:ext uri="{D42A27DB-BD31-4B8C-83A1-F6EECF244321}">
                <p14:modId xmlns:p14="http://schemas.microsoft.com/office/powerpoint/2010/main" val="1479547298"/>
              </p:ext>
            </p:extLst>
          </p:nvPr>
        </p:nvGraphicFramePr>
        <p:xfrm>
          <a:off x="457200" y="1752600"/>
          <a:ext cx="11277600" cy="2920956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планируем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должно быть получено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Срок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Мега5G Город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Улучшить опцию за счёт новых партнёрств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Дом групповых продуктов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1Q27 – миграция Дели тариф. 2Q27 – миграция Плати за близких. 3Q27 – миграция Семейной безопасности. 4Q27 – миграция Контроля аккаунтов.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1Q27–4Q27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617997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Единый заказ СИМ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Обновить сценарии телепорт и динамической SIM. Запустить сценарий eSIM.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4Q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796935"/>
                  </a:ext>
                </a:extLst>
              </a:tr>
            </a:tbl>
          </a:graphicData>
        </a:graphic>
      </p:graphicFrame>
      <p:sp>
        <p:nvSpPr>
          <p:cNvPr id="8" name="product-surface-2">
            <a:extLst>
              <a:ext uri="{FF2B5EF4-FFF2-40B4-BE49-F238E27FC236}">
                <a16:creationId xmlns:a16="http://schemas.microsoft.com/office/drawing/2014/main" id="{39BECE20-109B-0432-CFE6-87043A4575FF}"/>
              </a:ext>
            </a:extLst>
          </p:cNvPr>
          <p:cNvSpPr>
            <a:spLocks noGrp="1"/>
          </p:cNvSpPr>
          <p:nvPr/>
        </p:nvSpPr>
        <p:spPr>
          <a:xfrm>
            <a:off x="5740694" y="3423357"/>
            <a:ext cx="1852613" cy="1687899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r>
              <a:rPr lang="ru-RU" dirty="0"/>
              <a:t>Бенто Бокс с картинками будущих релизов и облако фичей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391891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704</Words>
  <Application>Microsoft Macintosh PowerPoint</Application>
  <DocSecurity>0</DocSecurity>
  <PresentationFormat>Широкоэкранный</PresentationFormat>
  <Paragraphs>140</Paragraphs>
  <Slides>6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Calibri</vt:lpstr>
      <vt:lpstr>Helvetica Neue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Cx 5142</cp:lastModifiedBy>
  <cp:revision>4</cp:revision>
  <dcterms:created xsi:type="dcterms:W3CDTF">2026-10-01T10:33:30Z</dcterms:created>
  <dcterms:modified xsi:type="dcterms:W3CDTF">2026-10-12T20:15:32Z</dcterms:modified>
</cp:coreProperties>
</file>