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9" r:id="rId5"/>
    <p:sldId id="260" r:id="rId6"/>
    <p:sldId id="261" r:id="rId7"/>
    <p:sldId id="262" r:id="rId8"/>
    <p:sldId id="271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8" d="100"/>
          <a:sy n="98" d="100"/>
        </p:scale>
        <p:origin x="105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Шаблон квартального демо. Заполните поля фактическими данными своего направления.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заполнения. Все имена, продукты, значения и ситуации условные.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slide3.xml"/><Relationship Id="rId4" Type="http://schemas.openxmlformats.org/officeDocument/2006/relationships/slide" Target="slide9.xml"/><Relationship Id="rId5" Type="http://schemas.openxmlformats.org/officeDocument/2006/relationships/slide" Target="slide4.xml"/><Relationship Id="rId6" Type="http://schemas.openxmlformats.org/officeDocument/2006/relationships/slide" Target="slide11.xml"/><Relationship Id="rId7" Type="http://schemas.openxmlformats.org/officeDocument/2006/relationships/slide" Target="slide10.xml"/><Relationship Id="rId8" Type="http://schemas.openxmlformats.org/officeDocument/2006/relationships/slide" Target="slide5.xml"/><Relationship Id="rId9" Type="http://schemas.openxmlformats.org/officeDocument/2006/relationships/slide" Target="slide6.xml"/><Relationship Id="rId10" Type="http://schemas.openxmlformats.org/officeDocument/2006/relationships/slide" Target="slide12.xml"/><Relationship Id="rId11" Type="http://schemas.openxmlformats.org/officeDocument/2006/relationships/slide" Target="slide7.xml"/><Relationship Id="rId12" Type="http://schemas.openxmlformats.org/officeDocument/2006/relationships/slide" Target="slide13.xml"/><Relationship Id="rId13" Type="http://schemas.openxmlformats.org/officeDocument/2006/relationships/slide" Target="slide1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slide" Target="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slide" Target="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">
            <a:extLst>
              <a:ext uri="{FF2B5EF4-FFF2-40B4-BE49-F238E27FC236}">
                <a16:creationId xmlns:a16="http://schemas.microsoft.com/office/drawing/2014/main" id="{8C950422-0ED3-4F47-AD6D-D46692AF9D1D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Структура презентации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40F2B2AE-F336-4C97-98A4-EDA1BDE30610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19 октября 2026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8C306F-05BF-4A61-8CC6-60F3D53996E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Квартальное</a:t>
            </a:r>
            <a:r>
              <a:rPr sz="33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демо</a:t>
            </a:r>
            <a:endParaRPr sz="33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Мега5G</a:t>
            </a:r>
            <a:r>
              <a:rPr sz="33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33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33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1DFF8BC-CCC5-490E-9287-FAE5BCEA3162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extLst>
              <a:ext uri="{FF2B5EF4-FFF2-40B4-BE49-F238E27FC236}">
                <a16:creationId xmlns:a16="http://schemas.microsoft.com/office/drawing/2014/main" id="{F31B9DEA-52E2-4DD6-94E9-4A3A5911213F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Нумерация страниц едина для шаблонов и бэкапа.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996C6497-5BEA-4408-86F8-A8E6DB247ABF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01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4E18DD71-CAEE-4AEF-8E11-718B1A304975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11277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 основной части — шаблоны для заполнения. Примеры и проверка готовности находятся в бэкапе.</a:t>
            </a:r>
          </a:p>
        </p:txBody>
      </p:sp>
      <p:sp>
        <p:nvSpPr>
          <p:cNvPr id="8" name="toc-number-0">
            <a:hlinkClick r:id="rId3" action="ppaction://hlinksldjump"/>
            <a:extLst>
              <a:ext uri="{FF2B5EF4-FFF2-40B4-BE49-F238E27FC236}">
                <a16:creationId xmlns:a16="http://schemas.microsoft.com/office/drawing/2014/main" id="{3840D421-A6B3-4101-B184-CA5DE14C581C}"/>
              </a:ext>
            </a:extLst>
          </p:cNvPr>
          <p:cNvSpPr>
            <a:spLocks noGrp="1"/>
          </p:cNvSpPr>
          <p:nvPr/>
        </p:nvSpPr>
        <p:spPr>
          <a:xfrm>
            <a:off x="457200" y="2276475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oc-title-0">
            <a:hlinkClick r:id="rId3" action="ppaction://hlinksldjump"/>
            <a:extLst>
              <a:ext uri="{FF2B5EF4-FFF2-40B4-BE49-F238E27FC236}">
                <a16:creationId xmlns:a16="http://schemas.microsoft.com/office/drawing/2014/main" id="{00E9AB1B-91DC-4B4F-A2DA-4149A50D9AF5}"/>
              </a:ext>
            </a:extLst>
          </p:cNvPr>
          <p:cNvSpPr>
            <a:spLocks noGrp="1"/>
          </p:cNvSpPr>
          <p:nvPr/>
        </p:nvSpPr>
        <p:spPr>
          <a:xfrm>
            <a:off x="1000125" y="2181225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Продуктовое направление</a:t>
            </a:r>
          </a:p>
        </p:txBody>
      </p:sp>
      <p:sp>
        <p:nvSpPr>
          <p:cNvPr id="10" name="toc-description-0">
            <a:hlinkClick r:id="rId3" action="ppaction://hlinksldjump"/>
            <a:extLst>
              <a:ext uri="{FF2B5EF4-FFF2-40B4-BE49-F238E27FC236}">
                <a16:creationId xmlns:a16="http://schemas.microsoft.com/office/drawing/2014/main" id="{B06F0521-7453-4FA3-827F-8BD879CCAAE7}"/>
              </a:ext>
            </a:extLst>
          </p:cNvPr>
          <p:cNvSpPr>
            <a:spLocks noGrp="1"/>
          </p:cNvSpPr>
          <p:nvPr/>
        </p:nvSpPr>
        <p:spPr>
          <a:xfrm>
            <a:off x="1000125" y="2447925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Название, продукты внутри направления и цели. Подача — на усмотрение команды.</a:t>
            </a:r>
          </a:p>
        </p:txBody>
      </p:sp>
      <p:sp>
        <p:nvSpPr>
          <p:cNvPr id="11" name="toc-reference-0">
            <a:hlinkClick r:id="rId4" action="ppaction://hlinksldjump"/>
            <a:extLst>
              <a:ext uri="{FF2B5EF4-FFF2-40B4-BE49-F238E27FC236}">
                <a16:creationId xmlns:a16="http://schemas.microsoft.com/office/drawing/2014/main" id="{0959E448-2258-4C43-8CF8-390AEF92D922}"/>
              </a:ext>
            </a:extLst>
          </p:cNvPr>
          <p:cNvSpPr>
            <a:spLocks noGrp="1"/>
          </p:cNvSpPr>
          <p:nvPr/>
        </p:nvSpPr>
        <p:spPr>
          <a:xfrm>
            <a:off x="10001250" y="229552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08</a:t>
            </a:r>
          </a:p>
        </p:txBody>
      </p:sp>
      <p:sp>
        <p:nvSpPr>
          <p:cNvPr id="12" name="toc-rule-0">
            <a:extLst>
              <a:ext uri="{FF2B5EF4-FFF2-40B4-BE49-F238E27FC236}">
                <a16:creationId xmlns:a16="http://schemas.microsoft.com/office/drawing/2014/main" id="{C8E397AF-61D5-499C-B3CE-6A93A9AC929D}"/>
              </a:ext>
            </a:extLst>
          </p:cNvPr>
          <p:cNvSpPr>
            <a:spLocks noGrp="1"/>
          </p:cNvSpPr>
          <p:nvPr/>
        </p:nvSpPr>
        <p:spPr>
          <a:xfrm>
            <a:off x="457200" y="275272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oc-number-1">
            <a:hlinkClick r:id="rId5" action="ppaction://hlinksldjump"/>
            <a:extLst>
              <a:ext uri="{FF2B5EF4-FFF2-40B4-BE49-F238E27FC236}">
                <a16:creationId xmlns:a16="http://schemas.microsoft.com/office/drawing/2014/main" id="{7C126615-CBAC-434C-9B88-3D0D7449A8E0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oc-title-1">
            <a:hlinkClick r:id="rId5" action="ppaction://hlinksldjump"/>
            <a:extLst>
              <a:ext uri="{FF2B5EF4-FFF2-40B4-BE49-F238E27FC236}">
                <a16:creationId xmlns:a16="http://schemas.microsoft.com/office/drawing/2014/main" id="{89C7ABB8-5EC7-4A10-9166-372AF3D88446}"/>
              </a:ext>
            </a:extLst>
          </p:cNvPr>
          <p:cNvSpPr>
            <a:spLocks noGrp="1"/>
          </p:cNvSpPr>
          <p:nvPr/>
        </p:nvSpPr>
        <p:spPr>
          <a:xfrm>
            <a:off x="1000125" y="28003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Команды направления</a:t>
            </a:r>
          </a:p>
        </p:txBody>
      </p:sp>
      <p:sp>
        <p:nvSpPr>
          <p:cNvPr id="15" name="toc-description-1">
            <a:hlinkClick r:id="rId5" action="ppaction://hlinksldjump"/>
            <a:extLst>
              <a:ext uri="{FF2B5EF4-FFF2-40B4-BE49-F238E27FC236}">
                <a16:creationId xmlns:a16="http://schemas.microsoft.com/office/drawing/2014/main" id="{7E450F4D-A887-48DA-9DDF-14E39CBFC76E}"/>
              </a:ext>
            </a:extLst>
          </p:cNvPr>
          <p:cNvSpPr>
            <a:spLocks noGrp="1"/>
          </p:cNvSpPr>
          <p:nvPr/>
        </p:nvSpPr>
        <p:spPr>
          <a:xfrm>
            <a:off x="1000125" y="3067050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Какие продукты ведёт каждая команда, кто входит в её состав и за что отвечает.</a:t>
            </a:r>
          </a:p>
        </p:txBody>
      </p:sp>
      <p:sp>
        <p:nvSpPr>
          <p:cNvPr id="16" name="toc-reference-1">
            <a:hlinkClick r:id="rId6" action="ppaction://hlinksldjump"/>
            <a:extLst>
              <a:ext uri="{FF2B5EF4-FFF2-40B4-BE49-F238E27FC236}">
                <a16:creationId xmlns:a16="http://schemas.microsoft.com/office/drawing/2014/main" id="{146984F4-82F1-440E-B24D-3083CBBD61B9}"/>
              </a:ext>
            </a:extLst>
          </p:cNvPr>
          <p:cNvSpPr>
            <a:spLocks noGrp="1"/>
          </p:cNvSpPr>
          <p:nvPr/>
        </p:nvSpPr>
        <p:spPr>
          <a:xfrm>
            <a:off x="10001250" y="2914650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09</a:t>
            </a:r>
          </a:p>
        </p:txBody>
      </p:sp>
      <p:sp>
        <p:nvSpPr>
          <p:cNvPr id="17" name="toc-rule-1">
            <a:extLst>
              <a:ext uri="{FF2B5EF4-FFF2-40B4-BE49-F238E27FC236}">
                <a16:creationId xmlns:a16="http://schemas.microsoft.com/office/drawing/2014/main" id="{770E9377-FA8C-40F5-901E-A414F7ADDBED}"/>
              </a:ext>
            </a:extLst>
          </p:cNvPr>
          <p:cNvSpPr>
            <a:spLocks noGrp="1"/>
          </p:cNvSpPr>
          <p:nvPr/>
        </p:nvSpPr>
        <p:spPr>
          <a:xfrm>
            <a:off x="457200" y="337185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oc-number-2">
            <a:hlinkClick r:id="rId5" action="ppaction://hlinksldjump"/>
            <a:extLst>
              <a:ext uri="{FF2B5EF4-FFF2-40B4-BE49-F238E27FC236}">
                <a16:creationId xmlns:a16="http://schemas.microsoft.com/office/drawing/2014/main" id="{DF8FE1ED-346F-4A79-9CD4-0D12ED749B77}"/>
              </a:ext>
            </a:extLst>
          </p:cNvPr>
          <p:cNvSpPr>
            <a:spLocks noGrp="1"/>
          </p:cNvSpPr>
          <p:nvPr/>
        </p:nvSpPr>
        <p:spPr>
          <a:xfrm>
            <a:off x="457200" y="3514725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toc-title-2">
            <a:hlinkClick r:id="rId5" action="ppaction://hlinksldjump"/>
            <a:extLst>
              <a:ext uri="{FF2B5EF4-FFF2-40B4-BE49-F238E27FC236}">
                <a16:creationId xmlns:a16="http://schemas.microsoft.com/office/drawing/2014/main" id="{D634B91D-C8CF-42DF-B3D6-A22F32FA1D98}"/>
              </a:ext>
            </a:extLst>
          </p:cNvPr>
          <p:cNvSpPr>
            <a:spLocks noGrp="1"/>
          </p:cNvSpPr>
          <p:nvPr/>
        </p:nvSpPr>
        <p:spPr>
          <a:xfrm>
            <a:off x="1000125" y="3419475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Метрики: Q3 и Q4 2026</a:t>
            </a:r>
          </a:p>
        </p:txBody>
      </p:sp>
      <p:sp>
        <p:nvSpPr>
          <p:cNvPr id="20" name="toc-description-2">
            <a:hlinkClick r:id="rId5" action="ppaction://hlinksldjump"/>
            <a:extLst>
              <a:ext uri="{FF2B5EF4-FFF2-40B4-BE49-F238E27FC236}">
                <a16:creationId xmlns:a16="http://schemas.microsoft.com/office/drawing/2014/main" id="{CC481732-869B-4293-824C-86DD6CA018A1}"/>
              </a:ext>
            </a:extLst>
          </p:cNvPr>
          <p:cNvSpPr>
            <a:spLocks noGrp="1"/>
          </p:cNvSpPr>
          <p:nvPr/>
        </p:nvSpPr>
        <p:spPr>
          <a:xfrm>
            <a:off x="1000125" y="3686175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План Q3, факт Q3, план Q4 и краткие причины отклонений — на одном слайде.</a:t>
            </a:r>
          </a:p>
        </p:txBody>
      </p:sp>
      <p:sp>
        <p:nvSpPr>
          <p:cNvPr id="21" name="toc-reference-2">
            <a:hlinkClick r:id="rId7" action="ppaction://hlinksldjump"/>
            <a:extLst>
              <a:ext uri="{FF2B5EF4-FFF2-40B4-BE49-F238E27FC236}">
                <a16:creationId xmlns:a16="http://schemas.microsoft.com/office/drawing/2014/main" id="{27ED3274-DFB0-4AD4-A396-F51D03E71B64}"/>
              </a:ext>
            </a:extLst>
          </p:cNvPr>
          <p:cNvSpPr>
            <a:spLocks noGrp="1"/>
          </p:cNvSpPr>
          <p:nvPr/>
        </p:nvSpPr>
        <p:spPr>
          <a:xfrm>
            <a:off x="10001250" y="353377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10</a:t>
            </a:r>
          </a:p>
        </p:txBody>
      </p:sp>
      <p:sp>
        <p:nvSpPr>
          <p:cNvPr id="22" name="toc-rule-2">
            <a:extLst>
              <a:ext uri="{FF2B5EF4-FFF2-40B4-BE49-F238E27FC236}">
                <a16:creationId xmlns:a16="http://schemas.microsoft.com/office/drawing/2014/main" id="{DD4FC28F-B1E4-40B4-A75F-E53269DCA663}"/>
              </a:ext>
            </a:extLst>
          </p:cNvPr>
          <p:cNvSpPr>
            <a:spLocks noGrp="1"/>
          </p:cNvSpPr>
          <p:nvPr/>
        </p:nvSpPr>
        <p:spPr>
          <a:xfrm>
            <a:off x="457200" y="39909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3" name="toc-number-3">
            <a:hlinkClick r:id="rId8" action="ppaction://hlinksldjump"/>
            <a:extLst>
              <a:ext uri="{FF2B5EF4-FFF2-40B4-BE49-F238E27FC236}">
                <a16:creationId xmlns:a16="http://schemas.microsoft.com/office/drawing/2014/main" id="{EA3E0F5C-8F39-4031-A91E-545BF0B10499}"/>
              </a:ext>
            </a:extLst>
          </p:cNvPr>
          <p:cNvSpPr>
            <a:spLocks noGrp="1"/>
          </p:cNvSpPr>
          <p:nvPr/>
        </p:nvSpPr>
        <p:spPr>
          <a:xfrm>
            <a:off x="457200" y="4133850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toc-title-3">
            <a:hlinkClick r:id="rId8" action="ppaction://hlinksldjump"/>
            <a:extLst>
              <a:ext uri="{FF2B5EF4-FFF2-40B4-BE49-F238E27FC236}">
                <a16:creationId xmlns:a16="http://schemas.microsoft.com/office/drawing/2014/main" id="{CA560AEE-DAFD-48B1-96CE-903DAAB7EA50}"/>
              </a:ext>
            </a:extLst>
          </p:cNvPr>
          <p:cNvSpPr>
            <a:spLocks noGrp="1"/>
          </p:cNvSpPr>
          <p:nvPr/>
        </p:nvSpPr>
        <p:spPr>
          <a:xfrm>
            <a:off x="1000125" y="403860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Результаты работ Q3 2026</a:t>
            </a:r>
          </a:p>
        </p:txBody>
      </p:sp>
      <p:sp>
        <p:nvSpPr>
          <p:cNvPr id="25" name="toc-description-3">
            <a:hlinkClick r:id="rId8" action="ppaction://hlinksldjump"/>
            <a:extLst>
              <a:ext uri="{FF2B5EF4-FFF2-40B4-BE49-F238E27FC236}">
                <a16:creationId xmlns:a16="http://schemas.microsoft.com/office/drawing/2014/main" id="{1B718823-E42F-4510-B21F-D7E10836BB73}"/>
              </a:ext>
            </a:extLst>
          </p:cNvPr>
          <p:cNvSpPr>
            <a:spLocks noGrp="1"/>
          </p:cNvSpPr>
          <p:nvPr/>
        </p:nvSpPr>
        <p:spPr>
          <a:xfrm>
            <a:off x="1000125" y="4305300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Что планировали и что фактически поставили или получили.</a:t>
            </a:r>
          </a:p>
        </p:txBody>
      </p:sp>
      <p:sp>
        <p:nvSpPr>
          <p:cNvPr id="26" name="toc-reference-3">
            <a:hlinkClick r:id="rId6" action="ppaction://hlinksldjump"/>
            <a:extLst>
              <a:ext uri="{FF2B5EF4-FFF2-40B4-BE49-F238E27FC236}">
                <a16:creationId xmlns:a16="http://schemas.microsoft.com/office/drawing/2014/main" id="{4D12A87C-BE02-44C7-AB59-86C81861BBF8}"/>
              </a:ext>
            </a:extLst>
          </p:cNvPr>
          <p:cNvSpPr>
            <a:spLocks noGrp="1"/>
          </p:cNvSpPr>
          <p:nvPr/>
        </p:nvSpPr>
        <p:spPr>
          <a:xfrm>
            <a:off x="10001250" y="4152900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11</a:t>
            </a:r>
          </a:p>
        </p:txBody>
      </p:sp>
      <p:sp>
        <p:nvSpPr>
          <p:cNvPr id="27" name="toc-rule-3">
            <a:extLst>
              <a:ext uri="{FF2B5EF4-FFF2-40B4-BE49-F238E27FC236}">
                <a16:creationId xmlns:a16="http://schemas.microsoft.com/office/drawing/2014/main" id="{CFA0E3A7-D200-45CE-8DCD-44AE400B04BF}"/>
              </a:ext>
            </a:extLst>
          </p:cNvPr>
          <p:cNvSpPr>
            <a:spLocks noGrp="1"/>
          </p:cNvSpPr>
          <p:nvPr/>
        </p:nvSpPr>
        <p:spPr>
          <a:xfrm>
            <a:off x="457200" y="461010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oc-number-4">
            <a:hlinkClick r:id="rId9" action="ppaction://hlinksldjump"/>
            <a:extLst>
              <a:ext uri="{FF2B5EF4-FFF2-40B4-BE49-F238E27FC236}">
                <a16:creationId xmlns:a16="http://schemas.microsoft.com/office/drawing/2014/main" id="{BFD3B5B5-37A5-47EF-B282-90B3DEDFEDAD}"/>
              </a:ext>
            </a:extLst>
          </p:cNvPr>
          <p:cNvSpPr>
            <a:spLocks noGrp="1"/>
          </p:cNvSpPr>
          <p:nvPr/>
        </p:nvSpPr>
        <p:spPr>
          <a:xfrm>
            <a:off x="457200" y="4752975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toc-title-4">
            <a:hlinkClick r:id="rId9" action="ppaction://hlinksldjump"/>
            <a:extLst>
              <a:ext uri="{FF2B5EF4-FFF2-40B4-BE49-F238E27FC236}">
                <a16:creationId xmlns:a16="http://schemas.microsoft.com/office/drawing/2014/main" id="{0F8BCB19-0999-46A2-AEDC-8D5B691F7B4B}"/>
              </a:ext>
            </a:extLst>
          </p:cNvPr>
          <p:cNvSpPr>
            <a:spLocks noGrp="1"/>
          </p:cNvSpPr>
          <p:nvPr/>
        </p:nvSpPr>
        <p:spPr>
          <a:xfrm>
            <a:off x="1000125" y="4657725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Планы работ Q4 2026</a:t>
            </a:r>
          </a:p>
        </p:txBody>
      </p:sp>
      <p:sp>
        <p:nvSpPr>
          <p:cNvPr id="30" name="toc-description-4">
            <a:hlinkClick r:id="rId9" action="ppaction://hlinksldjump"/>
            <a:extLst>
              <a:ext uri="{FF2B5EF4-FFF2-40B4-BE49-F238E27FC236}">
                <a16:creationId xmlns:a16="http://schemas.microsoft.com/office/drawing/2014/main" id="{5C4ADD93-7127-47A6-BBAA-E1EAE1F0C810}"/>
              </a:ext>
            </a:extLst>
          </p:cNvPr>
          <p:cNvSpPr>
            <a:spLocks noGrp="1"/>
          </p:cNvSpPr>
          <p:nvPr/>
        </p:nvSpPr>
        <p:spPr>
          <a:xfrm>
            <a:off x="1000125" y="4924425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Ключевые инициативы, релизы, запуски и исследования.</a:t>
            </a:r>
          </a:p>
        </p:txBody>
      </p:sp>
      <p:sp>
        <p:nvSpPr>
          <p:cNvPr id="31" name="toc-reference-4">
            <a:hlinkClick r:id="rId10" action="ppaction://hlinksldjump"/>
            <a:extLst>
              <a:ext uri="{FF2B5EF4-FFF2-40B4-BE49-F238E27FC236}">
                <a16:creationId xmlns:a16="http://schemas.microsoft.com/office/drawing/2014/main" id="{114A3B54-1133-45BB-8601-9972F033AF30}"/>
              </a:ext>
            </a:extLst>
          </p:cNvPr>
          <p:cNvSpPr>
            <a:spLocks noGrp="1"/>
          </p:cNvSpPr>
          <p:nvPr/>
        </p:nvSpPr>
        <p:spPr>
          <a:xfrm>
            <a:off x="10001250" y="4772025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12</a:t>
            </a:r>
          </a:p>
        </p:txBody>
      </p:sp>
      <p:sp>
        <p:nvSpPr>
          <p:cNvPr id="32" name="toc-rule-4">
            <a:extLst>
              <a:ext uri="{FF2B5EF4-FFF2-40B4-BE49-F238E27FC236}">
                <a16:creationId xmlns:a16="http://schemas.microsoft.com/office/drawing/2014/main" id="{F95C7602-0BDC-4B2F-988F-5D110F748AC8}"/>
              </a:ext>
            </a:extLst>
          </p:cNvPr>
          <p:cNvSpPr>
            <a:spLocks noGrp="1"/>
          </p:cNvSpPr>
          <p:nvPr/>
        </p:nvSpPr>
        <p:spPr>
          <a:xfrm>
            <a:off x="457200" y="522922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3" name="toc-number-5">
            <a:hlinkClick r:id="rId11" action="ppaction://hlinksldjump"/>
            <a:extLst>
              <a:ext uri="{FF2B5EF4-FFF2-40B4-BE49-F238E27FC236}">
                <a16:creationId xmlns:a16="http://schemas.microsoft.com/office/drawing/2014/main" id="{85C7B56F-24CE-4F08-BB53-2F94921D0CDE}"/>
              </a:ext>
            </a:extLst>
          </p:cNvPr>
          <p:cNvSpPr>
            <a:spLocks noGrp="1"/>
          </p:cNvSpPr>
          <p:nvPr/>
        </p:nvSpPr>
        <p:spPr>
          <a:xfrm>
            <a:off x="457200" y="5372100"/>
            <a:ext cx="4095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u="none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4" name="toc-title-5">
            <a:hlinkClick r:id="rId11" action="ppaction://hlinksldjump"/>
            <a:extLst>
              <a:ext uri="{FF2B5EF4-FFF2-40B4-BE49-F238E27FC236}">
                <a16:creationId xmlns:a16="http://schemas.microsoft.com/office/drawing/2014/main" id="{B07E5F37-0870-4A45-90E6-C60D2E3AD3F9}"/>
              </a:ext>
            </a:extLst>
          </p:cNvPr>
          <p:cNvSpPr>
            <a:spLocks noGrp="1"/>
          </p:cNvSpPr>
          <p:nvPr/>
        </p:nvSpPr>
        <p:spPr>
          <a:xfrm>
            <a:off x="1000125" y="5276850"/>
            <a:ext cx="885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u="none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Зависимости и конфликты</a:t>
            </a:r>
          </a:p>
        </p:txBody>
      </p:sp>
      <p:sp>
        <p:nvSpPr>
          <p:cNvPr id="35" name="toc-description-5">
            <a:hlinkClick r:id="rId11" action="ppaction://hlinksldjump"/>
            <a:extLst>
              <a:ext uri="{FF2B5EF4-FFF2-40B4-BE49-F238E27FC236}">
                <a16:creationId xmlns:a16="http://schemas.microsoft.com/office/drawing/2014/main" id="{26E96E91-7238-426D-ABB4-85A0F6CA37AA}"/>
              </a:ext>
            </a:extLst>
          </p:cNvPr>
          <p:cNvSpPr>
            <a:spLocks noGrp="1"/>
          </p:cNvSpPr>
          <p:nvPr/>
        </p:nvSpPr>
        <p:spPr>
          <a:xfrm>
            <a:off x="1000125" y="5543550"/>
            <a:ext cx="8810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Какие решения требуются от директора департамента продуктов и партнёрств.</a:t>
            </a:r>
          </a:p>
        </p:txBody>
      </p:sp>
      <p:sp>
        <p:nvSpPr>
          <p:cNvPr id="36" name="toc-reference-5">
            <a:hlinkClick r:id="rId12" action="ppaction://hlinksldjump"/>
            <a:extLst>
              <a:ext uri="{FF2B5EF4-FFF2-40B4-BE49-F238E27FC236}">
                <a16:creationId xmlns:a16="http://schemas.microsoft.com/office/drawing/2014/main" id="{71FDDBDE-5279-415D-A4C7-4E9BDA9B19D0}"/>
              </a:ext>
            </a:extLst>
          </p:cNvPr>
          <p:cNvSpPr>
            <a:spLocks noGrp="1"/>
          </p:cNvSpPr>
          <p:nvPr/>
        </p:nvSpPr>
        <p:spPr>
          <a:xfrm>
            <a:off x="10001250" y="5391150"/>
            <a:ext cx="1733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none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· 13</a:t>
            </a:r>
          </a:p>
        </p:txBody>
      </p:sp>
      <p:sp>
        <p:nvSpPr>
          <p:cNvPr id="37" name="toc-rule-5">
            <a:extLst>
              <a:ext uri="{FF2B5EF4-FFF2-40B4-BE49-F238E27FC236}">
                <a16:creationId xmlns:a16="http://schemas.microsoft.com/office/drawing/2014/main" id="{1D4F7943-00E9-4A8C-BEAB-0D4C194B586A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8" name="toc-bottom">
            <a:extLst>
              <a:ext uri="{FF2B5EF4-FFF2-40B4-BE49-F238E27FC236}">
                <a16:creationId xmlns:a16="http://schemas.microsoft.com/office/drawing/2014/main" id="{BC53836B-D7B9-4F53-9AB0-6B2856B9BF51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При необходимости добавьте слайды демо Q3 и макетов Q4 в соответствующие блоки.</a:t>
            </a:r>
          </a:p>
        </p:txBody>
      </p:sp>
      <p:sp>
        <p:nvSpPr>
          <p:cNvPr id="40" name="toc-bottom-link">
            <a:hlinkClick r:id="rId13" action="ppaction://hlinksldjump"/>
          </p:cNvPr>
          <p:cNvSpPr>
            <a:spLocks noGrp="1"/>
          </p:cNvSpPr>
          <p:nvPr/>
        </p:nvSpPr>
        <p:spPr>
          <a:xfrm>
            <a:off x="9429750" y="6057900"/>
            <a:ext cx="2305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u="sng" dirty="0" err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Проверка</a:t>
            </a:r>
            <a:r>
              <a:rPr sz="1050" b="0" u="sng" dirty="0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50" b="0" u="sng" dirty="0" err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готовности</a:t>
            </a:r>
            <a:r>
              <a:rPr sz="1050" b="0" u="sng" dirty="0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 · 14</a:t>
            </a:r>
          </a:p>
        </p:txBody>
      </p:sp>
    </p:spTree>
    <p:extLst>
      <p:ext uri="{BB962C8B-B14F-4D97-AF65-F5344CB8AC3E}">
        <p14:creationId xmlns:p14="http://schemas.microsoft.com/office/powerpoint/2010/main" val="129664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BBC110-981B-AC9C-3230-788B767EF335}"/>
              </a:ext>
            </a:extLst>
          </p:cNvPr>
          <p:cNvSpPr>
            <a:spLocks noGrp="1"/>
          </p:cNvSpPr>
          <p:nvPr/>
        </p:nvSpPr>
        <p:spPr>
          <a:xfrm>
            <a:off x="457200" y="3183731"/>
            <a:ext cx="11277600" cy="4905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3300" b="1" dirty="0">
                <a:solidFill>
                  <a:srgbClr val="00B050"/>
                </a:solidFill>
                <a:latin typeface="Helvetica Neue"/>
                <a:ea typeface="Helvetica Neue"/>
                <a:cs typeface="Helvetica Neue"/>
              </a:rPr>
              <a:t>СТРУКТУРА ПРЕЗЕНТАЦИИ</a:t>
            </a:r>
            <a:endParaRPr sz="3300" b="1" dirty="0">
              <a:solidFill>
                <a:srgbClr val="00B05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6118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">
            <a:extLst>
              <a:ext uri="{FF2B5EF4-FFF2-40B4-BE49-F238E27FC236}">
                <a16:creationId xmlns:a16="http://schemas.microsoft.com/office/drawing/2014/main" id="{5E1B4033-CDE9-4B41-BD7A-B3DC1A59EF32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Мега5G · Продуктовое направление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95610C3-C5F2-418B-94B4-B97F0F905476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Квартальное демо · 19.10.2026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05123C9-542C-421B-B3F6-AF8B31198222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Мега5G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576F09A3-38DE-484A-AA4F-49411073F80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BA89D98E-DA99-45C8-8996-3E1E3FF2B217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</a:t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заполнения</a:t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 · </a:t>
            </a:r>
            <a:r>
              <a:rPr sz="900" b="0" u="sng" dirty="0" err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стр</a:t>
            </a:r>
            <a:r>
              <a:rPr sz="900" b="0" u="sng" dirty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. 08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CE409948-341B-488C-9F72-05471BACD85C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02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277F4075-84F0-4EB5-B7CC-EEAF73254F8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Портфель «Мега5G»: витрина в приложении и лендинг на сайте.</a:t>
            </a:r>
          </a:p>
        </p:txBody>
      </p:sp>
      <p:sp>
        <p:nvSpPr>
          <p:cNvPr id="8" name="products-rule">
            <a:extLst>
              <a:ext uri="{FF2B5EF4-FFF2-40B4-BE49-F238E27FC236}">
                <a16:creationId xmlns:a16="http://schemas.microsoft.com/office/drawing/2014/main" id="{DD2F998E-538F-493B-99B9-5F1D421AEBCD}"/>
              </a:ext>
            </a:extLst>
          </p:cNvPr>
          <p:cNvSpPr>
            <a:spLocks noGrp="1"/>
          </p:cNvSpPr>
          <p:nvPr/>
        </p:nvSpPr>
        <p:spPr>
          <a:xfrm>
            <a:off x="457200" y="1876425"/>
            <a:ext cx="112776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9" name="products-label">
            <a:extLst>
              <a:ext uri="{FF2B5EF4-FFF2-40B4-BE49-F238E27FC236}">
                <a16:creationId xmlns:a16="http://schemas.microsoft.com/office/drawing/2014/main" id="{C8BCCFBC-DEB3-4D5E-B1CC-5355AF5F225F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Продукты внутри направления</a:t>
            </a:r>
          </a:p>
        </p:txBody>
      </p:sp>
      <p:sp>
        <p:nvSpPr>
          <p:cNvPr id="10" name="product-surface-0">
            <a:extLst>
              <a:ext uri="{FF2B5EF4-FFF2-40B4-BE49-F238E27FC236}">
                <a16:creationId xmlns:a16="http://schemas.microsoft.com/office/drawing/2014/main" id="{9EA0A1CC-7533-4448-811E-D69F188F31B7}"/>
              </a:ext>
            </a:extLst>
          </p:cNvPr>
          <p:cNvSpPr>
            <a:spLocks noGrp="1"/>
          </p:cNvSpPr>
          <p:nvPr/>
        </p:nvSpPr>
        <p:spPr>
          <a:xfrm>
            <a:off x="457200" y="2447925"/>
            <a:ext cx="216408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1" name="product-field-0">
            <a:extLst>
              <a:ext uri="{FF2B5EF4-FFF2-40B4-BE49-F238E27FC236}">
                <a16:creationId xmlns:a16="http://schemas.microsoft.com/office/drawing/2014/main" id="{218BF7B7-7052-4583-B32D-A93D2C8D1151}"/>
              </a:ext>
            </a:extLst>
          </p:cNvPr>
          <p:cNvSpPr>
            <a:spLocks noGrp="1"/>
          </p:cNvSpPr>
          <p:nvPr/>
        </p:nvSpPr>
        <p:spPr>
          <a:xfrm>
            <a:off x="600075" y="2543175"/>
            <a:ext cx="187833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Витрина Мега5G</a:t>
            </a:r>
            <a:r>
              <a:rPr sz="1200" b="0" dirty="0" err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  <a:r>
              <a:rPr sz="1200" b="0" dirty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2" name="product-surface-1">
            <a:extLst>
              <a:ext uri="{FF2B5EF4-FFF2-40B4-BE49-F238E27FC236}">
                <a16:creationId xmlns:a16="http://schemas.microsoft.com/office/drawing/2014/main" id="{9E884B7F-7394-41F3-93BD-3990B529046A}"/>
              </a:ext>
            </a:extLst>
          </p:cNvPr>
          <p:cNvSpPr>
            <a:spLocks noGrp="1"/>
          </p:cNvSpPr>
          <p:nvPr/>
        </p:nvSpPr>
        <p:spPr>
          <a:xfrm>
            <a:off x="2735580" y="2447925"/>
            <a:ext cx="216408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3" name="product-field-1">
            <a:extLst>
              <a:ext uri="{FF2B5EF4-FFF2-40B4-BE49-F238E27FC236}">
                <a16:creationId xmlns:a16="http://schemas.microsoft.com/office/drawing/2014/main" id="{65430E4B-FBE6-49CD-ABE3-C232A560D4D8}"/>
              </a:ext>
            </a:extLst>
          </p:cNvPr>
          <p:cNvSpPr>
            <a:spLocks noGrp="1"/>
          </p:cNvSpPr>
          <p:nvPr/>
        </p:nvSpPr>
        <p:spPr>
          <a:xfrm>
            <a:off x="2878455" y="2543175"/>
            <a:ext cx="187833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Лендинг</a:t>
            </a:r>
          </a:p>
        </p:txBody>
      </p:sp>
      <p:sp>
        <p:nvSpPr>
          <p:cNvPr id="14" name="product-surface-2">
            <a:extLst>
              <a:ext uri="{FF2B5EF4-FFF2-40B4-BE49-F238E27FC236}">
                <a16:creationId xmlns:a16="http://schemas.microsoft.com/office/drawing/2014/main" id="{FC2915F6-3FDE-4A7B-9EA9-FCC516A76C03}"/>
              </a:ext>
            </a:extLst>
          </p:cNvPr>
          <p:cNvSpPr>
            <a:spLocks noGrp="1"/>
          </p:cNvSpPr>
          <p:nvPr/>
        </p:nvSpPr>
        <p:spPr>
          <a:xfrm>
            <a:off x="5013960" y="2447925"/>
            <a:ext cx="216408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5" name="product-field-2">
            <a:extLst>
              <a:ext uri="{FF2B5EF4-FFF2-40B4-BE49-F238E27FC236}">
                <a16:creationId xmlns:a16="http://schemas.microsoft.com/office/drawing/2014/main" id="{B8B65CFA-6570-4C51-970D-FC13B56CEBD1}"/>
              </a:ext>
            </a:extLst>
          </p:cNvPr>
          <p:cNvSpPr>
            <a:spLocks noGrp="1"/>
          </p:cNvSpPr>
          <p:nvPr/>
        </p:nvSpPr>
        <p:spPr>
          <a:xfrm>
            <a:off x="5156835" y="2543175"/>
            <a:ext cx="187833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Опция на 30 дней</a:t>
            </a:r>
          </a:p>
        </p:txBody>
      </p:sp>
      <p:sp>
        <p:nvSpPr>
          <p:cNvPr id="16" name="field-rule-0">
            <a:extLst>
              <a:ext uri="{FF2B5EF4-FFF2-40B4-BE49-F238E27FC236}">
                <a16:creationId xmlns:a16="http://schemas.microsoft.com/office/drawing/2014/main" id="{2AF15C6E-308C-462D-BEF2-0CCA86A33115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5486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7" name="field-title-0">
            <a:extLst>
              <a:ext uri="{FF2B5EF4-FFF2-40B4-BE49-F238E27FC236}">
                <a16:creationId xmlns:a16="http://schemas.microsoft.com/office/drawing/2014/main" id="{41E7FE8D-C6A7-40B9-B18B-8D196CCC9634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5486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Цели</a:t>
            </a:r>
            <a:r>
              <a:rPr sz="15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направления</a:t>
            </a:r>
            <a:endParaRPr sz="15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field-value-0">
            <a:extLst>
              <a:ext uri="{FF2B5EF4-FFF2-40B4-BE49-F238E27FC236}">
                <a16:creationId xmlns:a16="http://schemas.microsoft.com/office/drawing/2014/main" id="{0E83B3F8-7BC7-4714-A386-FA74A42337CB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5486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Растить сценарии активации в продукты МегаИнтернета, и улучшать клиентский опыт.</a:t>
            </a:r>
          </a:p>
        </p:txBody>
      </p:sp>
      <p:sp>
        <p:nvSpPr>
          <p:cNvPr id="19" name="field-rule-1">
            <a:extLst>
              <a:ext uri="{FF2B5EF4-FFF2-40B4-BE49-F238E27FC236}">
                <a16:creationId xmlns:a16="http://schemas.microsoft.com/office/drawing/2014/main" id="{D2AE0626-6D9D-454D-80A0-B41C68711578}"/>
              </a:ext>
            </a:extLst>
          </p:cNvPr>
          <p:cNvSpPr>
            <a:spLocks noGrp="1"/>
          </p:cNvSpPr>
          <p:nvPr/>
        </p:nvSpPr>
        <p:spPr>
          <a:xfrm>
            <a:off x="6248400" y="3943350"/>
            <a:ext cx="5486400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0" name="field-title-1">
            <a:extLst>
              <a:ext uri="{FF2B5EF4-FFF2-40B4-BE49-F238E27FC236}">
                <a16:creationId xmlns:a16="http://schemas.microsoft.com/office/drawing/2014/main" id="{48B02CC6-68DF-4885-9C5E-CA1C7F8A2FD4}"/>
              </a:ext>
            </a:extLst>
          </p:cNvPr>
          <p:cNvSpPr>
            <a:spLocks noGrp="1"/>
          </p:cNvSpPr>
          <p:nvPr/>
        </p:nvSpPr>
        <p:spPr>
          <a:xfrm>
            <a:off x="6248400" y="4171950"/>
            <a:ext cx="5486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Как поймём, что достигли цели</a:t>
            </a:r>
          </a:p>
        </p:txBody>
      </p:sp>
      <p:sp>
        <p:nvSpPr>
          <p:cNvPr id="21" name="field-value-1">
            <a:extLst>
              <a:ext uri="{FF2B5EF4-FFF2-40B4-BE49-F238E27FC236}">
                <a16:creationId xmlns:a16="http://schemas.microsoft.com/office/drawing/2014/main" id="{57044201-AE18-4876-A2BF-10B2D24F666B}"/>
              </a:ext>
            </a:extLst>
          </p:cNvPr>
          <p:cNvSpPr>
            <a:spLocks noGrp="1"/>
          </p:cNvSpPr>
          <p:nvPr/>
        </p:nvSpPr>
        <p:spPr>
          <a:xfrm>
            <a:off x="6248400" y="4572000"/>
            <a:ext cx="5486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Подключения — 10. Конверсия — план не задан. GM — 4 млн.</a:t>
            </a:r>
          </a:p>
        </p:txBody>
      </p:sp>
      <p:sp>
        <p:nvSpPr>
          <p:cNvPr id="23" name="product-surface-3">
            <a:extLst>
              <a:ext uri="{FF2B5EF4-FFF2-40B4-BE49-F238E27FC236}">
                <a16:creationId xmlns:a16="http://schemas.microsoft.com/office/drawing/2014/main" id="{FC2915F6-3FDE-4A7B-9EA9-FCC516A76C03}"/>
              </a:ext>
            </a:extLst>
          </p:cNvPr>
          <p:cNvSpPr>
            <a:spLocks noGrp="1"/>
          </p:cNvSpPr>
          <p:nvPr/>
        </p:nvSpPr>
        <p:spPr>
          <a:xfrm>
            <a:off x="7292340" y="2447925"/>
            <a:ext cx="216408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4" name="product-field-3">
            <a:extLst>
              <a:ext uri="{FF2B5EF4-FFF2-40B4-BE49-F238E27FC236}">
                <a16:creationId xmlns:a16="http://schemas.microsoft.com/office/drawing/2014/main" id="{B8B65CFA-6570-4C51-970D-FC13B56CEBD1}"/>
              </a:ext>
            </a:extLst>
          </p:cNvPr>
          <p:cNvSpPr>
            <a:spLocks noGrp="1"/>
          </p:cNvSpPr>
          <p:nvPr/>
        </p:nvSpPr>
        <p:spPr>
          <a:xfrm>
            <a:off x="7435215" y="2543175"/>
            <a:ext cx="187833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Разовое ускорение</a:t>
            </a:r>
          </a:p>
        </p:txBody>
      </p:sp>
      <p:sp>
        <p:nvSpPr>
          <p:cNvPr id="25" name="product-surface-4">
            <a:extLst>
              <a:ext uri="{FF2B5EF4-FFF2-40B4-BE49-F238E27FC236}">
                <a16:creationId xmlns:a16="http://schemas.microsoft.com/office/drawing/2014/main" id="{FC2915F6-3FDE-4A7B-9EA9-FCC516A76C03}"/>
              </a:ext>
            </a:extLst>
          </p:cNvPr>
          <p:cNvSpPr>
            <a:spLocks noGrp="1"/>
          </p:cNvSpPr>
          <p:nvPr/>
        </p:nvSpPr>
        <p:spPr>
          <a:xfrm>
            <a:off x="9570720" y="2447925"/>
            <a:ext cx="216408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6" name="product-field-4">
            <a:extLst>
              <a:ext uri="{FF2B5EF4-FFF2-40B4-BE49-F238E27FC236}">
                <a16:creationId xmlns:a16="http://schemas.microsoft.com/office/drawing/2014/main" id="{B8B65CFA-6570-4C51-970D-FC13B56CEBD1}"/>
              </a:ext>
            </a:extLst>
          </p:cNvPr>
          <p:cNvSpPr>
            <a:spLocks noGrp="1"/>
          </p:cNvSpPr>
          <p:nvPr/>
        </p:nvSpPr>
        <p:spPr>
          <a:xfrm>
            <a:off x="9713595" y="2543175"/>
            <a:ext cx="187833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Мега5G Город</a:t>
            </a:r>
          </a:p>
        </p:txBody>
      </p:sp>
    </p:spTree>
    <p:extLst>
      <p:ext uri="{BB962C8B-B14F-4D97-AF65-F5344CB8AC3E}">
        <p14:creationId xmlns:p14="http://schemas.microsoft.com/office/powerpoint/2010/main" val="80976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321CB36B-CF3C-4563-BBD2-314DB4EFBAAE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Мега5G · Метрики Q3–Q4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9ED20FAD-18CF-46D5-8013-E48F8DF0C1D0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План, факт и следующий квартал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746225C-45CC-4958-91E6-DB382A54048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Цели и динамика метрик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E89DD1AD-9C6F-41EA-B4EB-2B7B9B8105B7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ECF1479B-FC64-4AFD-997A-14DFD5881E5C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10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2AF33EB4-9731-46D2-BAFD-8BF7113CFCE0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04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B096ABF6-DC17-43BB-81BD-99214DE5D39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ключевые метрики на одном слайде. Причины существенных отклонений раскройте кратко в последней колонке.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3470569875"/>
              </p:ext>
            </p:extLst>
          </p:nvPr>
        </p:nvGraphicFramePr>
        <p:xfrm>
          <a:off x="457200" y="1752600"/>
          <a:ext cx="11277600" cy="4029075"/>
        </p:xfrm>
        <a:graphic>
          <a:graphicData uri="http://schemas.openxmlformats.org/drawingml/2006/table">
            <a:tbl>
              <a:tblPr/>
              <a:tblGrid>
                <a:gridCol w="30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2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Причина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отклонения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Подключения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Конверсия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?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2,45%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l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37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GM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млн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млн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9A60216F-5CC2-4720-A9B4-046A045DE40C}"/>
              </a:ext>
            </a:extLst>
          </p:cNvPr>
          <p:cNvSpPr>
            <a:spLocks noGrp="1"/>
          </p:cNvSpPr>
          <p:nvPr/>
        </p:nvSpPr>
        <p:spPr>
          <a:xfrm>
            <a:off x="457200" y="59340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Оставьте применимые категории и добавьте нужные строки. Для плана и факта используйте одинаковые единицы, период и охват. Рядом с данными укажите источник. Если факт ещё не измерен, так и напишите.</a:t>
            </a:r>
          </a:p>
        </p:txBody>
      </p:sp>
    </p:spTree>
    <p:extLst>
      <p:ext uri="{BB962C8B-B14F-4D97-AF65-F5344CB8AC3E}">
        <p14:creationId xmlns:p14="http://schemas.microsoft.com/office/powerpoint/2010/main" val="162418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9E516BAD-AC21-428E-ADC1-EB1E8D2ADB0B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Мега5G · Результаты Q3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1065353-9CF7-4A8F-B620-83F0709BB55B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653E68-CC07-4D12-8EE0-E37A7ED2F0F6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планировали и что получили в Q3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B66E779-8612-4A79-91C5-2D4F0487529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A144CE90-B6FD-421A-A2FC-A83FDC78F90E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11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9C26502-111F-4FD7-85AA-06B1321BAEB2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05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8B07A0F0-E87F-46FB-BE33-5BDEE2AF6BC6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ключевые работы и конкретный фактический результат на конец квартала.</a:t>
            </a:r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2611020467"/>
              </p:ext>
            </p:extLst>
          </p:nvPr>
        </p:nvGraphicFramePr>
        <p:xfrm>
          <a:off x="457200" y="1752600"/>
          <a:ext cx="11277600" cy="1727675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планировали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получили по факту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Статус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0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 поддержки портфеля «Мега5G»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Обеспечить запуск к РК 21.09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Витрина в приложении и лендинг на сайте к старту РК 21.09. Точки входа: виджет на главной и блок в «Услугах». Выбор: опция на 30 дней или разовое ускорение на Х часов.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072E37E5-6659-4F7A-80DC-ECA862BF866F}"/>
              </a:ext>
            </a:extLst>
          </p:cNvPr>
          <p:cNvSpPr>
            <a:spLocks noGrp="1"/>
          </p:cNvSpPr>
          <p:nvPr/>
        </p:nvSpPr>
        <p:spPr>
          <a:xfrm>
            <a:off x="2912990" y="3644867"/>
            <a:ext cx="882181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Экраны со слайда команды: вход в Мега5G и витрина с выбором срока. Точки входа и выбор опции указаны в таблице.</a:t>
            </a:r>
          </a:p>
        </p:txBody>
      </p:sp>
      <p:pic>
        <p:nvPicPr>
          <p:cNvPr id="20" name="Picture 19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44867"/>
            <a:ext cx="990151" cy="2148840"/>
          </a:xfrm>
          <a:prstGeom prst="rect">
            <a:avLst/>
          </a:prstGeom>
        </p:spPr>
      </p:pic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655" y="3644867"/>
            <a:ext cx="990151" cy="21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BF6EA01B-D9DF-478A-A66C-E5D21D9166BC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Мега5G · Планы Q4 2026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E55312B8-1932-4510-9780-5B57FCFEE6DD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Инициативы, релизы, запуски и исследования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A1E1F8B-E27B-4BA3-A348-0387ECA164BA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планируем получить в Q4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AE5520AC-4452-4241-B64F-9C6495510EC0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C6CBD0EC-800C-4C58-B81A-678FA138B1B6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12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4F320230-A3B7-4195-AD38-0E78D5280855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06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079647BB-E1F6-4F45-B175-CCEB6F944B5D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ключевые работы, ожидаемый результат и сроки. Целевые значения метрик уже отражены на стр. 04.</a:t>
            </a:r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1479547298"/>
              </p:ext>
            </p:extLst>
          </p:nvPr>
        </p:nvGraphicFramePr>
        <p:xfrm>
          <a:off x="457200" y="1752600"/>
          <a:ext cx="11277600" cy="2905125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планируем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должно быть получено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Мега5G Город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Улучшение опции за счёт новых партнёрств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1C9D5BD1-7FB6-4F21-8A07-88A9021F9B5C}"/>
              </a:ext>
            </a:extLst>
          </p:cNvPr>
          <p:cNvSpPr>
            <a:spLocks noGrp="1"/>
          </p:cNvSpPr>
          <p:nvPr/>
        </p:nvSpPr>
        <p:spPr>
          <a:xfrm>
            <a:off x="457200" y="481012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На демо 19.10 квартал уже идёт. Отметьте работы, которые выполнены или начаты с 01.10. Оставшуюся часть квартала покажите как план.</a:t>
            </a:r>
          </a:p>
        </p:txBody>
      </p:sp>
      <p:sp>
        <p:nvSpPr>
          <p:cNvPr id="10" name="note-surface">
            <a:extLst>
              <a:ext uri="{FF2B5EF4-FFF2-40B4-BE49-F238E27FC236}">
                <a16:creationId xmlns:a16="http://schemas.microsoft.com/office/drawing/2014/main" id="{8A99DE81-4663-4AFF-A79C-5F7E28772AA3}"/>
              </a:ext>
            </a:extLst>
          </p:cNvPr>
          <p:cNvSpPr>
            <a:spLocks noGrp="1"/>
          </p:cNvSpPr>
          <p:nvPr/>
        </p:nvSpPr>
        <p:spPr>
          <a:xfrm>
            <a:off x="457200" y="5438775"/>
            <a:ext cx="11277600" cy="504825"/>
          </a:xfrm>
          <a:prstGeom prst="roundRect">
            <a:avLst>
              <a:gd name="adj" fmla="val 22642"/>
            </a:avLst>
          </a:prstGeom>
          <a:solidFill>
            <a:srgbClr val="DDFFEC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1" name="note">
            <a:extLst>
              <a:ext uri="{FF2B5EF4-FFF2-40B4-BE49-F238E27FC236}">
                <a16:creationId xmlns:a16="http://schemas.microsoft.com/office/drawing/2014/main" id="{8F7D2F77-8A32-4954-B64A-E4C885618180}"/>
              </a:ext>
            </a:extLst>
          </p:cNvPr>
          <p:cNvSpPr>
            <a:spLocks noGrp="1"/>
          </p:cNvSpPr>
          <p:nvPr/>
        </p:nvSpPr>
        <p:spPr>
          <a:xfrm>
            <a:off x="647700" y="5591175"/>
            <a:ext cx="108966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При необходимости добавьте 1–2 слайда макетов, идей или референсов. Подпишите статус материала и покажите его связь с конкретной работой Q4.</a:t>
            </a:r>
          </a:p>
        </p:txBody>
      </p:sp>
    </p:spTree>
    <p:extLst>
      <p:ext uri="{BB962C8B-B14F-4D97-AF65-F5344CB8AC3E}">
        <p14:creationId xmlns:p14="http://schemas.microsoft.com/office/powerpoint/2010/main" val="103918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5A250292-9122-4642-8874-A6BB01F690E9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1873F"/>
                </a:solidFill>
                <a:latin typeface="Helvetica Neue"/>
                <a:ea typeface="Helvetica Neue"/>
                <a:cs typeface="Helvetica Neue"/>
              </a:rPr>
              <a:t>Шаблон · Зависимости и конфликты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EEC7F04-626B-4685-9F45-7EC1A5C4115C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Вопросы для директора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F98BA8C-5705-4CD2-AF04-A20ECC278863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Критические зависимости и конфликты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7A609BEC-F136-44FA-BF21-67A0F2E218E9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F99DBB9D-0F7E-4BE5-AF41-204CD7E88F29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Пример заполнения · стр. 13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1E1302BE-2CC3-4CAC-AB3F-9C6865ECCF86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07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383642F4-34EC-4F60-9975-97C5E1C0679D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Покажите вопросы, которые требуют внимания или решения директора департамента продуктов и партнёрств.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2656685446"/>
              </p:ext>
            </p:extLst>
          </p:nvPr>
        </p:nvGraphicFramePr>
        <p:xfrm>
          <a:off x="457200" y="1752600"/>
          <a:ext cx="11277600" cy="2962275"/>
        </p:xfrm>
        <a:graphic>
          <a:graphicData uri="http://schemas.openxmlformats.org/drawingml/2006/table">
            <a:tbl>
              <a:tblPr/>
              <a:tblGrid>
                <a:gridCol w="236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3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Зависимость / конфликт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Кто и что должен</a:t>
                      </a:r>
                      <a:b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</a:b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предоставить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под риском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 решения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Запрос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директору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[Конкретная зависимость или конфликт]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[Ответственный и требуемый результат]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[Работа, срок или целевая метрика]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[Дата]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[Какое решение нужно принять]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[Конкретная зависимость или конфликт]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[Ответственный и требуемый результат]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[Работа, срок или целевая метрика]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[Дата]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[Какое решение нужно принять]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[Конкретная зависимость или конфликт]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[Ответственный и требуемый результат]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[Работа, срок или целевая метрика]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[Дата]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Какое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нужно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принять</a:t>
                      </a:r>
                      <a:r>
                        <a:rPr sz="1125" b="0" dirty="0">
                          <a:solidFill>
                            <a:srgbClr val="66666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]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9468AE03-1970-463F-9288-F0A3B0421F68}"/>
              </a:ext>
            </a:extLst>
          </p:cNvPr>
          <p:cNvSpPr>
            <a:spLocks noGrp="1"/>
          </p:cNvSpPr>
          <p:nvPr/>
        </p:nvSpPr>
        <p:spPr>
          <a:xfrm>
            <a:off x="457200" y="48672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Укажите, что изменится, если решение не будет принято вовремя. Если вопрос уже закрыт, зафиксируйте принятое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07396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6ED82-9640-EE34-FA9A-529296BA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393422E-CBEE-3310-678A-0FBAC27C76D1}"/>
              </a:ext>
            </a:extLst>
          </p:cNvPr>
          <p:cNvSpPr>
            <a:spLocks noGrp="1"/>
          </p:cNvSpPr>
          <p:nvPr/>
        </p:nvSpPr>
        <p:spPr>
          <a:xfrm>
            <a:off x="457200" y="3183731"/>
            <a:ext cx="11277600" cy="4905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3300" b="1" dirty="0">
                <a:solidFill>
                  <a:srgbClr val="00B050"/>
                </a:solidFill>
                <a:latin typeface="Helvetica Neue"/>
                <a:ea typeface="Helvetica Neue"/>
                <a:cs typeface="Helvetica Neue"/>
              </a:rPr>
              <a:t>БЭКАП С ПРИМЕРАМИ</a:t>
            </a:r>
            <a:endParaRPr sz="3300" b="1" dirty="0">
              <a:solidFill>
                <a:srgbClr val="00B05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2227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">
            <a:extLst>
              <a:ext uri="{FF2B5EF4-FFF2-40B4-BE49-F238E27FC236}">
                <a16:creationId xmlns:a16="http://schemas.microsoft.com/office/drawing/2014/main" id="{61FB8580-4ADC-4C1E-B3FC-0D72A5508B0D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02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4873236-E01F-4863-8FD0-76214759F244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C701059-1651-4803-9C35-986C4D0DFB84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Цифровое самообслуживание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1877B535-BB3C-45FB-9440-4C6A72625F74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1677C1CE-7A4E-4769-8303-F0EA781FC62D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02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00D4170D-3CE9-455B-8517-7BD72A17E1EA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08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F3692B4D-D3F1-4719-89E0-34936DBE1DD5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Помогаем клиентам самостоятельно оплачивать связь, управлять тарифом и подключать сервисы в личном кабинете.</a:t>
            </a:r>
          </a:p>
        </p:txBody>
      </p:sp>
      <p:sp>
        <p:nvSpPr>
          <p:cNvPr id="8" name="products-label">
            <a:extLst>
              <a:ext uri="{FF2B5EF4-FFF2-40B4-BE49-F238E27FC236}">
                <a16:creationId xmlns:a16="http://schemas.microsoft.com/office/drawing/2014/main" id="{AE7E5CDB-5515-491E-81A2-2F638B6043C0}"/>
              </a:ext>
            </a:extLst>
          </p:cNvPr>
          <p:cNvSpPr>
            <a:spLocks noGrp="1"/>
          </p:cNvSpPr>
          <p:nvPr/>
        </p:nvSpPr>
        <p:spPr>
          <a:xfrm>
            <a:off x="457200" y="1762125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Продукты внутри направления</a:t>
            </a:r>
          </a:p>
        </p:txBody>
      </p:sp>
      <p:sp>
        <p:nvSpPr>
          <p:cNvPr id="9" name="product-surface-0">
            <a:extLst>
              <a:ext uri="{FF2B5EF4-FFF2-40B4-BE49-F238E27FC236}">
                <a16:creationId xmlns:a16="http://schemas.microsoft.com/office/drawing/2014/main" id="{E91C77F1-FCBF-4DC1-B2B6-F87BC7B54597}"/>
              </a:ext>
            </a:extLst>
          </p:cNvPr>
          <p:cNvSpPr>
            <a:spLocks noGrp="1"/>
          </p:cNvSpPr>
          <p:nvPr/>
        </p:nvSpPr>
        <p:spPr>
          <a:xfrm>
            <a:off x="457200" y="2143125"/>
            <a:ext cx="186690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0" name="product-0">
            <a:extLst>
              <a:ext uri="{FF2B5EF4-FFF2-40B4-BE49-F238E27FC236}">
                <a16:creationId xmlns:a16="http://schemas.microsoft.com/office/drawing/2014/main" id="{C6B01A13-E514-4745-BBE8-AEB29449BD48}"/>
              </a:ext>
            </a:extLst>
          </p:cNvPr>
          <p:cNvSpPr>
            <a:spLocks noGrp="1"/>
          </p:cNvSpPr>
          <p:nvPr/>
        </p:nvSpPr>
        <p:spPr>
          <a:xfrm>
            <a:off x="600075" y="2238375"/>
            <a:ext cx="1581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Оплата и пополнение</a:t>
            </a:r>
          </a:p>
        </p:txBody>
      </p:sp>
      <p:sp>
        <p:nvSpPr>
          <p:cNvPr id="11" name="product-surface-1">
            <a:extLst>
              <a:ext uri="{FF2B5EF4-FFF2-40B4-BE49-F238E27FC236}">
                <a16:creationId xmlns:a16="http://schemas.microsoft.com/office/drawing/2014/main" id="{9A30CBB3-B774-486B-9672-FE137D886F58}"/>
              </a:ext>
            </a:extLst>
          </p:cNvPr>
          <p:cNvSpPr>
            <a:spLocks noGrp="1"/>
          </p:cNvSpPr>
          <p:nvPr/>
        </p:nvSpPr>
        <p:spPr>
          <a:xfrm>
            <a:off x="2438400" y="2143125"/>
            <a:ext cx="2657475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2" name="product-1">
            <a:extLst>
              <a:ext uri="{FF2B5EF4-FFF2-40B4-BE49-F238E27FC236}">
                <a16:creationId xmlns:a16="http://schemas.microsoft.com/office/drawing/2014/main" id="{071849F6-62E5-4D2C-9C8C-8C5E8C5740FC}"/>
              </a:ext>
            </a:extLst>
          </p:cNvPr>
          <p:cNvSpPr>
            <a:spLocks noGrp="1"/>
          </p:cNvSpPr>
          <p:nvPr/>
        </p:nvSpPr>
        <p:spPr>
          <a:xfrm>
            <a:off x="2581275" y="2238375"/>
            <a:ext cx="2371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Управление тарифом и опциями</a:t>
            </a:r>
          </a:p>
        </p:txBody>
      </p:sp>
      <p:sp>
        <p:nvSpPr>
          <p:cNvPr id="13" name="product-surface-2">
            <a:extLst>
              <a:ext uri="{FF2B5EF4-FFF2-40B4-BE49-F238E27FC236}">
                <a16:creationId xmlns:a16="http://schemas.microsoft.com/office/drawing/2014/main" id="{DE0B5566-EC4A-4C83-8946-ABB2FE5D914A}"/>
              </a:ext>
            </a:extLst>
          </p:cNvPr>
          <p:cNvSpPr>
            <a:spLocks noGrp="1"/>
          </p:cNvSpPr>
          <p:nvPr/>
        </p:nvSpPr>
        <p:spPr>
          <a:xfrm>
            <a:off x="5210175" y="2143125"/>
            <a:ext cx="2647950" cy="419100"/>
          </a:xfrm>
          <a:prstGeom prst="roundRect">
            <a:avLst>
              <a:gd name="adj" fmla="val 18182"/>
            </a:avLst>
          </a:prstGeom>
          <a:solidFill>
            <a:srgbClr val="F6F6F6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4" name="product-2">
            <a:extLst>
              <a:ext uri="{FF2B5EF4-FFF2-40B4-BE49-F238E27FC236}">
                <a16:creationId xmlns:a16="http://schemas.microsoft.com/office/drawing/2014/main" id="{1A978EEE-9D3C-4981-9745-5EDD11946643}"/>
              </a:ext>
            </a:extLst>
          </p:cNvPr>
          <p:cNvSpPr>
            <a:spLocks noGrp="1"/>
          </p:cNvSpPr>
          <p:nvPr/>
        </p:nvSpPr>
        <p:spPr>
          <a:xfrm>
            <a:off x="5353050" y="2238375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Подписки и семейные продукты</a:t>
            </a:r>
          </a:p>
        </p:txBody>
      </p:sp>
      <p:sp>
        <p:nvSpPr>
          <p:cNvPr id="15" name="goals-label">
            <a:extLst>
              <a:ext uri="{FF2B5EF4-FFF2-40B4-BE49-F238E27FC236}">
                <a16:creationId xmlns:a16="http://schemas.microsoft.com/office/drawing/2014/main" id="{E83C4AC7-82D7-4E6B-BD4D-2039DA477AB7}"/>
              </a:ext>
            </a:extLst>
          </p:cNvPr>
          <p:cNvSpPr>
            <a:spLocks noGrp="1"/>
          </p:cNvSpPr>
          <p:nvPr/>
        </p:nvSpPr>
        <p:spPr>
          <a:xfrm>
            <a:off x="457200" y="297180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Цели направления</a:t>
            </a:r>
          </a:p>
        </p:txBody>
      </p:sp>
      <p:graphicFrame>
        <p:nvGraphicFramePr>
          <p:cNvPr id="33" name="Table 32"/>
          <p:cNvGraphicFramePr/>
          <p:nvPr>
            <p:extLst>
              <p:ext uri="{D42A27DB-BD31-4B8C-83A1-F6EECF244321}">
                <p14:modId xmlns:p14="http://schemas.microsoft.com/office/powerpoint/2010/main" val="237564533"/>
              </p:ext>
            </p:extLst>
          </p:nvPr>
        </p:nvGraphicFramePr>
        <p:xfrm>
          <a:off x="457200" y="3371850"/>
          <a:ext cx="10001250" cy="1819275"/>
        </p:xfrm>
        <a:graphic>
          <a:graphicData uri="http://schemas.openxmlformats.org/drawingml/2006/table">
            <a:tbl>
              <a:tblPr/>
              <a:tblGrid>
                <a:gridCol w="460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Какой результат хотим получить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поймём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,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достигли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цели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Клиенты успешно завершают оплату в ЛК.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 успешных оплат — 73% попыток к 31.12.2026.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Клиентам понятен и удобен сценарий оплаты.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CSI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оплаты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— 78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баллов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31.12.2026.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instruction">
            <a:extLst>
              <a:ext uri="{FF2B5EF4-FFF2-40B4-BE49-F238E27FC236}">
                <a16:creationId xmlns:a16="http://schemas.microsoft.com/office/drawing/2014/main" id="{066B7228-B225-4154-B3F6-79BBD02070B5}"/>
              </a:ext>
            </a:extLst>
          </p:cNvPr>
          <p:cNvSpPr>
            <a:spLocks noGrp="1"/>
          </p:cNvSpPr>
          <p:nvPr/>
        </p:nvSpPr>
        <p:spPr>
          <a:xfrm>
            <a:off x="457200" y="538162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Это один из вариантов подачи. Команда может рассказать о направлении иначе, сохранив продукты и цели.</a:t>
            </a:r>
          </a:p>
        </p:txBody>
      </p:sp>
    </p:spTree>
    <p:extLst>
      <p:ext uri="{BB962C8B-B14F-4D97-AF65-F5344CB8AC3E}">
        <p14:creationId xmlns:p14="http://schemas.microsoft.com/office/powerpoint/2010/main" val="395856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CF208E31-9C08-49D7-BA1B-30B3104BC069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04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6F2838BE-1C80-40DE-B3D7-5655F04033D6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Все значения условные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5D20100-90DC-4D6A-9BB6-4585468AEEB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Метрики на одном слайде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2E89F2CE-F9A1-45CB-AAE9-9ACBB15F4023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D6D261E6-0620-4626-BFDB-4C044E6EA4CE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04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FE914503-103B-4661-9D99-7F813D4A30F0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10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83189C43-F6C5-4A9F-B7B3-C9712FD3880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План и факт Q3 сопоставлены с целями Q4. Причины отклонений показаны рядом с метриками.</a:t>
            </a: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158172199"/>
              </p:ext>
            </p:extLst>
          </p:nvPr>
        </p:nvGraphicFramePr>
        <p:xfrm>
          <a:off x="457200" y="1562100"/>
          <a:ext cx="11277600" cy="4276725"/>
        </p:xfrm>
        <a:graphic>
          <a:graphicData uri="http://schemas.openxmlformats.org/drawingml/2006/table">
            <a:tbl>
              <a:tblPr/>
              <a:tblGrid>
                <a:gridCol w="304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2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Метрика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Q4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Причина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отклонения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Q3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 · Q3-02 / Q4-04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Выручка подписки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Рост выручки, млн руб./мес.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13,3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13,1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13,6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Платящих клиентов меньше плана. Причина потери базы требует проверки.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Бизнес · Q3-02 / Q4-04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Платящая база подписки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Сохранение базы, тыс. клиентов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ниже 39,8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39,7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ниже 39,7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Гипотеза:</a:t>
                      </a: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часть клиентов отказалась после изменения цены.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 · Q3-01 / Q4-01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 успешных оплат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Успешное завершение, % попыток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70%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66%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Гипотеза:</a:t>
                      </a: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потери связаны с проверкой банка.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Клиентский опыт · Q3-01 / Q4-01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CSI оплаты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Удобство сценария, баллы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Цель достигнута.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ts val="1170"/>
                        </a:lnSpc>
                        <a:spcBef>
                          <a:spcPts val="0"/>
                        </a:spcBef>
                        <a:spcAft>
                          <a:spcPts val="225"/>
                        </a:spcAft>
                      </a:pPr>
                      <a:r>
                        <a:rPr sz="900" b="1">
                          <a:solidFill>
                            <a:srgbClr val="01873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Техника · Q3-03 / Q4-02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 ошибок входа</a:t>
                      </a:r>
                    </a:p>
                    <a:p>
                      <a:pPr algn="l">
                        <a:lnSpc>
                          <a:spcPts val="1170"/>
                        </a:lnSpc>
                        <a:spcBef>
                          <a:spcPts val="225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Надёжность, % попыток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выше 0,5%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 обеих платформах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Android: 0,7%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iOS: факт не снят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выше 0,5%</a:t>
                      </a:r>
                    </a:p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 каждой платформе к 31.12.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iOS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выпущен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из-за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зависимости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от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SDK.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Остаточные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ошибки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Android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проверяем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</a:t>
                      </a:r>
                    </a:p>
                  </a:txBody>
                  <a:tcPr marL="114300" marR="114300" marT="95250" marB="9525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struction">
            <a:extLst>
              <a:ext uri="{FF2B5EF4-FFF2-40B4-BE49-F238E27FC236}">
                <a16:creationId xmlns:a16="http://schemas.microsoft.com/office/drawing/2014/main" id="{C4A4038F-22DE-4990-BE35-7958C2F9B01D}"/>
              </a:ext>
            </a:extLst>
          </p:cNvPr>
          <p:cNvSpPr>
            <a:spLocks noGrp="1"/>
          </p:cNvSpPr>
          <p:nvPr/>
        </p:nvSpPr>
        <p:spPr>
          <a:xfrm>
            <a:off x="457200" y="599122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В своей презентации добавьте источники и период измерения. Пример не доказывает причинность: непроверенные объяснения прямо обозначены как гипотезы.</a:t>
            </a:r>
          </a:p>
        </p:txBody>
      </p:sp>
    </p:spTree>
    <p:extLst>
      <p:ext uri="{BB962C8B-B14F-4D97-AF65-F5344CB8AC3E}">
        <p14:creationId xmlns:p14="http://schemas.microsoft.com/office/powerpoint/2010/main" val="1737522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C03290BF-895A-4029-A174-C874F2B52B82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05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1ED5F89F-67AC-4BD5-B518-6C00814B2A88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8ACF87E-B015-4016-8194-EE5CA0EC140E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Q3: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поставка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и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результаты</a:t>
            </a:r>
            <a:r>
              <a:rPr sz="2400" b="1" dirty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400" b="1" dirty="0" err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исследований</a:t>
            </a:r>
            <a:endParaRPr sz="2400" b="1" dirty="0">
              <a:solidFill>
                <a:srgbClr val="333333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274B74BE-D1C2-4FA8-ABEC-984220EC3E27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F2F41F59-032B-4B51-BA65-D93594739446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05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838D4A6C-7FB5-43CA-8CF4-480E1EB8E950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11 / 14</a:t>
            </a:r>
          </a:p>
        </p:txBody>
      </p:sp>
      <p:graphicFrame>
        <p:nvGraphicFramePr>
          <p:cNvPr id="16" name="Table 15"/>
          <p:cNvGraphicFramePr/>
          <p:nvPr>
            <p:extLst>
              <p:ext uri="{D42A27DB-BD31-4B8C-83A1-F6EECF244321}">
                <p14:modId xmlns:p14="http://schemas.microsoft.com/office/powerpoint/2010/main" val="4017409836"/>
              </p:ext>
            </p:extLst>
          </p:nvPr>
        </p:nvGraphicFramePr>
        <p:xfrm>
          <a:off x="457200" y="1333500"/>
          <a:ext cx="11277600" cy="4057650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работа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планировали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получили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факту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Статус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  <a:endParaRPr sz="1125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Q3-01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Запустить оплату картой в ЛК до 12.08.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12.08 выпустили оплату и подтверждение результата.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Монетизационный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Q3-02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Изменить цену подписки с 299 до 329 руб./мес. с 01.08.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Применили цену к запланированной группе и отправили коммуникации.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Поставлено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Регуляторный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Обеспечить хранение согласий в 5 каналах до 30.09.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Реализовали и проверили требование в 4 из 5 каналов.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Частично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Технический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Обновить авторизацию на Android и iOS до 30.09.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Обновили Android. На iOS изменение не выпустили.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Частично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Q3-05 · исследование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Проверить потребность семей в общем бюджете связи.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Выявили разные сценарии. Гипотеза единого предложения не подтвердилась. Решили уточнить сегмент.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Исследование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завершено</a:t>
                      </a:r>
                      <a:endParaRPr sz="1125" b="0" dirty="0">
                        <a:solidFill>
                          <a:srgbClr val="5F5F5F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note-surface">
            <a:extLst>
              <a:ext uri="{FF2B5EF4-FFF2-40B4-BE49-F238E27FC236}">
                <a16:creationId xmlns:a16="http://schemas.microsoft.com/office/drawing/2014/main" id="{940FFC38-4640-488D-A53A-5D6257C2C55C}"/>
              </a:ext>
            </a:extLst>
          </p:cNvPr>
          <p:cNvSpPr>
            <a:spLocks noGrp="1"/>
          </p:cNvSpPr>
          <p:nvPr/>
        </p:nvSpPr>
        <p:spPr>
          <a:xfrm>
            <a:off x="457200" y="5581650"/>
            <a:ext cx="11277600" cy="704850"/>
          </a:xfrm>
          <a:prstGeom prst="roundRect">
            <a:avLst>
              <a:gd name="adj" fmla="val 16216"/>
            </a:avLst>
          </a:prstGeom>
          <a:solidFill>
            <a:srgbClr val="F2E5FF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9" name="note">
            <a:extLst>
              <a:ext uri="{FF2B5EF4-FFF2-40B4-BE49-F238E27FC236}">
                <a16:creationId xmlns:a16="http://schemas.microsoft.com/office/drawing/2014/main" id="{0B71725F-6042-4C83-9E45-552684F0B3AD}"/>
              </a:ext>
            </a:extLst>
          </p:cNvPr>
          <p:cNvSpPr>
            <a:spLocks noGrp="1"/>
          </p:cNvSpPr>
          <p:nvPr/>
        </p:nvSpPr>
        <p:spPr>
          <a:xfrm>
            <a:off x="647700" y="5734050"/>
            <a:ext cx="10896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Для демо оплаты покажите начало сценария и результат: подтверждение успешной оплаты и обновлённый баланс. Для технической или регуляторной работы можно показать проверку качества или выполненное требование.</a:t>
            </a:r>
          </a:p>
        </p:txBody>
      </p:sp>
    </p:spTree>
    <p:extLst>
      <p:ext uri="{BB962C8B-B14F-4D97-AF65-F5344CB8AC3E}">
        <p14:creationId xmlns:p14="http://schemas.microsoft.com/office/powerpoint/2010/main" val="89091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BF0E8446-14E8-4642-8011-ADEC70582907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06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78A5EF52-A83E-4910-82EB-96C89FF2F181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406A197-C7A1-4E3F-9EA5-B8F2D5F8C8DA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Q4: ключевые работы и результат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B107B26D-86CD-45A9-8AED-73F186889302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79FA74D1-8DF9-435A-B433-EC096597BCC3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06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79397CBC-CFA7-482C-B056-2C60ADA06B58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12 / 14</a:t>
            </a:r>
          </a:p>
        </p:txBody>
      </p:sp>
      <p:graphicFrame>
        <p:nvGraphicFramePr>
          <p:cNvPr id="16" name="Table 15"/>
          <p:cNvGraphicFramePr/>
          <p:nvPr>
            <p:extLst>
              <p:ext uri="{D42A27DB-BD31-4B8C-83A1-F6EECF244321}">
                <p14:modId xmlns:p14="http://schemas.microsoft.com/office/powerpoint/2010/main" val="715599499"/>
              </p:ext>
            </p:extLst>
          </p:nvPr>
        </p:nvGraphicFramePr>
        <p:xfrm>
          <a:off x="457200" y="1333500"/>
          <a:ext cx="11277600" cy="3876675"/>
        </p:xfrm>
        <a:graphic>
          <a:graphicData uri="http://schemas.openxmlformats.org/drawingml/2006/table">
            <a:tbl>
              <a:tblPr/>
              <a:tblGrid>
                <a:gridCol w="180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7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Тип / работа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планируем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должно быть получено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Q4-01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Устранить причины потерь в сценарии оплаты после их проверки.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Клиентам доступен скорректированный сценарий оплаты.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Релиз: 20.11.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Технический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Q4-02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Завершить авторизацию iOS и исправить оставшиеся ошибки.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Обновлённая авторизация работает на обеих платформах.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Релиз: 15.11.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Регуляторный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Q4-03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Подключить оставшийся канал к хранению согласий.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Требование реализовано и принято в 5 из 5 каналов.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31.10.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Монетизационный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Q4-04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Скорректировать предложение подписки по результатам Q3.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Клиентам доступно изменённое предложение подписки.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Запуск: 15.11.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Продуктовый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Q4-05 · исследование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Уточнить сегмент и значимость потребности в общем бюджете связи.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Определены сегмент и потенциал. Принято решение: прорабатывать решение или отказаться.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Вывод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: 30.11.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note-surface">
            <a:extLst>
              <a:ext uri="{FF2B5EF4-FFF2-40B4-BE49-F238E27FC236}">
                <a16:creationId xmlns:a16="http://schemas.microsoft.com/office/drawing/2014/main" id="{121218BF-0378-466F-8D10-A3CBE4FC62E2}"/>
              </a:ext>
            </a:extLst>
          </p:cNvPr>
          <p:cNvSpPr>
            <a:spLocks noGrp="1"/>
          </p:cNvSpPr>
          <p:nvPr/>
        </p:nvSpPr>
        <p:spPr>
          <a:xfrm>
            <a:off x="457200" y="5400675"/>
            <a:ext cx="11277600" cy="504825"/>
          </a:xfrm>
          <a:prstGeom prst="roundRect">
            <a:avLst>
              <a:gd name="adj" fmla="val 22642"/>
            </a:avLst>
          </a:prstGeom>
          <a:solidFill>
            <a:srgbClr val="F2E5FF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9" name="note">
            <a:extLst>
              <a:ext uri="{FF2B5EF4-FFF2-40B4-BE49-F238E27FC236}">
                <a16:creationId xmlns:a16="http://schemas.microsoft.com/office/drawing/2014/main" id="{86625D92-DF26-4BB4-A7E0-7C3EA798091B}"/>
              </a:ext>
            </a:extLst>
          </p:cNvPr>
          <p:cNvSpPr>
            <a:spLocks noGrp="1"/>
          </p:cNvSpPr>
          <p:nvPr/>
        </p:nvSpPr>
        <p:spPr>
          <a:xfrm>
            <a:off x="647700" y="5553075"/>
            <a:ext cx="108966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Числовые цели Q4 показаны на стр. 10. Если добавляете макет или референс, подпишите его статус и укажите, какую работу из плана он объясняет.</a:t>
            </a:r>
          </a:p>
        </p:txBody>
      </p:sp>
    </p:spTree>
    <p:extLst>
      <p:ext uri="{BB962C8B-B14F-4D97-AF65-F5344CB8AC3E}">
        <p14:creationId xmlns:p14="http://schemas.microsoft.com/office/powerpoint/2010/main" val="87236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">
            <a:extLst>
              <a:ext uri="{FF2B5EF4-FFF2-40B4-BE49-F238E27FC236}">
                <a16:creationId xmlns:a16="http://schemas.microsoft.com/office/drawing/2014/main" id="{682668AA-3162-4A54-9661-4A0D9D31150C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Пример к шаблону 07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A5174729-063D-46C0-B930-5464B3BD0EE8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Условный пример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36CB016-893F-40B9-9699-C1C2FAEB7228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Что требует решения директора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CA9B26D3-D0D5-4FE5-A774-E20304181E8F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270A36A2-C968-4577-B212-675F7D0B0ECC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шаблону · стр. 07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69F1FC6A-7D9D-4F50-B042-2810A0E0E14F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13 / 14</a:t>
            </a:r>
          </a:p>
        </p:txBody>
      </p:sp>
      <p:sp>
        <p:nvSpPr>
          <p:cNvPr id="7" name="intro">
            <a:extLst>
              <a:ext uri="{FF2B5EF4-FFF2-40B4-BE49-F238E27FC236}">
                <a16:creationId xmlns:a16="http://schemas.microsoft.com/office/drawing/2014/main" id="{8656C1E2-A900-479B-B8C3-44C4DCC0C53C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 каждого вопроса есть ответственный, срок, риск и конкретный запрос.</a:t>
            </a:r>
          </a:p>
        </p:txBody>
      </p:sp>
      <p:graphicFrame>
        <p:nvGraphicFramePr>
          <p:cNvPr id="18" name="Table 17"/>
          <p:cNvGraphicFramePr/>
          <p:nvPr>
            <p:extLst>
              <p:ext uri="{D42A27DB-BD31-4B8C-83A1-F6EECF244321}">
                <p14:modId xmlns:p14="http://schemas.microsoft.com/office/powerpoint/2010/main" val="3475063856"/>
              </p:ext>
            </p:extLst>
          </p:nvPr>
        </p:nvGraphicFramePr>
        <p:xfrm>
          <a:off x="457200" y="1581150"/>
          <a:ext cx="11277600" cy="3514725"/>
        </p:xfrm>
        <a:graphic>
          <a:graphicData uri="http://schemas.openxmlformats.org/drawingml/2006/table">
            <a:tbl>
              <a:tblPr/>
              <a:tblGrid>
                <a:gridCol w="236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3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Зависимость / конфликт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Кто и что должен</a:t>
                      </a:r>
                      <a:b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</a:b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предоставить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Что под риском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Срок решения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Запрос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</a:t>
                      </a:r>
                      <a:r>
                        <a:rPr sz="1100" b="1" dirty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директору</a:t>
                      </a:r>
                      <a:endParaRPr sz="1100" b="1" dirty="0">
                        <a:solidFill>
                          <a:srgbClr val="333333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Ресурс BSS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Два направления претендуют на одну команду.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Владелец BSS: подтвердить ресурс на интеграцию оплаты.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Q4-01: релиз 20.11. и достижение конверсии 73%.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Решение: 23.10.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Ресурс: с 26.10.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Определить, какой из двух релизов имеет приоритет.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Конфликт цены и базы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План выручки требует изменения предложения.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Продукт, PMM и ценообразование: представить сравнение двух вариантов.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Q4-04: рост выручки при сохранении платящей базы.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Решение: 26.10.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Запуск: 15.11.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Выбрать вариант и подтвердить допустимый риск для базы.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1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Пересечение запусков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Две кампании используют один канал.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Владельцы каналов и PMM: подтвердить общий календарь.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Охват запусков и выполнение канального плана.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Решение: 28.10.</a:t>
                      </a:r>
                    </a:p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Запуски: ноябрь.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Согласовать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порядок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запусков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или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перераспределить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</a:t>
                      </a:r>
                      <a:r>
                        <a:rPr sz="1125" b="0" dirty="0" err="1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охват</a:t>
                      </a:r>
                      <a:r>
                        <a:rPr sz="1125" b="0" dirty="0">
                          <a:solidFill>
                            <a:srgbClr val="5F5F5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.</a:t>
                      </a:r>
                    </a:p>
                  </a:txBody>
                  <a:tcPr marL="114300" marR="114300" marT="123825" marB="123825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DEDE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note-surface">
            <a:extLst>
              <a:ext uri="{FF2B5EF4-FFF2-40B4-BE49-F238E27FC236}">
                <a16:creationId xmlns:a16="http://schemas.microsoft.com/office/drawing/2014/main" id="{9A22D691-D3DF-437C-A36A-00DCC2141487}"/>
              </a:ext>
            </a:extLst>
          </p:cNvPr>
          <p:cNvSpPr>
            <a:spLocks noGrp="1"/>
          </p:cNvSpPr>
          <p:nvPr/>
        </p:nvSpPr>
        <p:spPr>
          <a:xfrm>
            <a:off x="457200" y="5286375"/>
            <a:ext cx="11277600" cy="504825"/>
          </a:xfrm>
          <a:prstGeom prst="roundRect">
            <a:avLst>
              <a:gd name="adj" fmla="val 22642"/>
            </a:avLst>
          </a:prstGeom>
          <a:solidFill>
            <a:srgbClr val="F2E5FF"/>
          </a:solidFill>
          <a:ln w="0"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0" name="note">
            <a:extLst>
              <a:ext uri="{FF2B5EF4-FFF2-40B4-BE49-F238E27FC236}">
                <a16:creationId xmlns:a16="http://schemas.microsoft.com/office/drawing/2014/main" id="{048D3185-95E8-4C20-9096-7AAAA1B7980D}"/>
              </a:ext>
            </a:extLst>
          </p:cNvPr>
          <p:cNvSpPr>
            <a:spLocks noGrp="1"/>
          </p:cNvSpPr>
          <p:nvPr/>
        </p:nvSpPr>
        <p:spPr>
          <a:xfrm>
            <a:off x="647700" y="5438775"/>
            <a:ext cx="108966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Конкретный запрос: «Определить приоритет двух релизов до 23.10». Формулировка «Нужна помощь с ресурсами» не объясняет, какое решение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127575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ection">
            <a:extLst>
              <a:ext uri="{FF2B5EF4-FFF2-40B4-BE49-F238E27FC236}">
                <a16:creationId xmlns:a16="http://schemas.microsoft.com/office/drawing/2014/main" id="{7B30C85D-9D87-4BCE-A92F-AB4002D6CB76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7572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Бэкап · Проверка готовности</a:t>
            </a:r>
          </a:p>
        </p:txBody>
      </p:sp>
      <p:sp>
        <p:nvSpPr>
          <p:cNvPr id="2" name="context">
            <a:extLst>
              <a:ext uri="{FF2B5EF4-FFF2-40B4-BE49-F238E27FC236}">
                <a16:creationId xmlns:a16="http://schemas.microsoft.com/office/drawing/2014/main" id="{AD8619C5-E519-4E88-AF61-ED534CDC5E77}"/>
              </a:ext>
            </a:extLst>
          </p:cNvPr>
          <p:cNvSpPr>
            <a:spLocks noGrp="1"/>
          </p:cNvSpPr>
          <p:nvPr/>
        </p:nvSpPr>
        <p:spPr>
          <a:xfrm>
            <a:off x="8058150" y="257175"/>
            <a:ext cx="3676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Для команды перед демо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03196D6-2AD7-4DCE-A8D4-E9F517EAA8E9}"/>
              </a:ext>
            </a:extLst>
          </p:cNvPr>
          <p:cNvSpPr>
            <a:spLocks noGrp="1"/>
          </p:cNvSpPr>
          <p:nvPr/>
        </p:nvSpPr>
        <p:spPr>
          <a:xfrm>
            <a:off x="457200" y="657225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Проверка презентации</a:t>
            </a:r>
          </a:p>
        </p:txBody>
      </p:sp>
      <p:sp>
        <p:nvSpPr>
          <p:cNvPr id="4" name="footer-rule">
            <a:extLst>
              <a:ext uri="{FF2B5EF4-FFF2-40B4-BE49-F238E27FC236}">
                <a16:creationId xmlns:a16="http://schemas.microsoft.com/office/drawing/2014/main" id="{B8377CC3-5E01-4FE7-A701-71766F1429D6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footer-reference">
            <a:hlinkClick r:id="rId3" action="ppaction://hlinksldjump"/>
            <a:extLst>
              <a:ext uri="{FF2B5EF4-FFF2-40B4-BE49-F238E27FC236}">
                <a16:creationId xmlns:a16="http://schemas.microsoft.com/office/drawing/2014/main" id="{AEE13A13-9352-4D84-8E00-562A6DD50D24}"/>
              </a:ext>
            </a:extLst>
          </p:cNvPr>
          <p:cNvSpPr>
            <a:spLocks noGrp="1"/>
          </p:cNvSpPr>
          <p:nvPr/>
        </p:nvSpPr>
        <p:spPr>
          <a:xfrm>
            <a:off x="457200" y="6591300"/>
            <a:ext cx="100012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u="sng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Вернуться к содержанию · стр. 01</a:t>
            </a:r>
          </a:p>
        </p:txBody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B6332072-F4F6-4F36-8D48-494E3A45B17C}"/>
              </a:ext>
            </a:extLst>
          </p:cNvPr>
          <p:cNvSpPr>
            <a:spLocks noGrp="1"/>
          </p:cNvSpPr>
          <p:nvPr/>
        </p:nvSpPr>
        <p:spPr>
          <a:xfrm>
            <a:off x="10725150" y="6591300"/>
            <a:ext cx="100965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14 / 14</a:t>
            </a:r>
          </a:p>
        </p:txBody>
      </p:sp>
      <p:sp>
        <p:nvSpPr>
          <p:cNvPr id="7" name="check-number-0">
            <a:extLst>
              <a:ext uri="{FF2B5EF4-FFF2-40B4-BE49-F238E27FC236}">
                <a16:creationId xmlns:a16="http://schemas.microsoft.com/office/drawing/2014/main" id="{5C15C553-984F-4899-ACD6-3ECB5A7EBA30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check-title-0">
            <a:extLst>
              <a:ext uri="{FF2B5EF4-FFF2-40B4-BE49-F238E27FC236}">
                <a16:creationId xmlns:a16="http://schemas.microsoft.com/office/drawing/2014/main" id="{5C17DB0C-48A0-41DA-A7FB-9B32BA0ACBA5}"/>
              </a:ext>
            </a:extLst>
          </p:cNvPr>
          <p:cNvSpPr>
            <a:spLocks noGrp="1"/>
          </p:cNvSpPr>
          <p:nvPr/>
        </p:nvSpPr>
        <p:spPr>
          <a:xfrm>
            <a:off x="990600" y="1552575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Направление и продукты понятны</a:t>
            </a:r>
          </a:p>
        </p:txBody>
      </p:sp>
      <p:sp>
        <p:nvSpPr>
          <p:cNvPr id="9" name="check-description-0">
            <a:extLst>
              <a:ext uri="{FF2B5EF4-FFF2-40B4-BE49-F238E27FC236}">
                <a16:creationId xmlns:a16="http://schemas.microsoft.com/office/drawing/2014/main" id="{2558C9AB-801B-45BE-BFDB-8D50507B2F80}"/>
              </a:ext>
            </a:extLst>
          </p:cNvPr>
          <p:cNvSpPr>
            <a:spLocks noGrp="1"/>
          </p:cNvSpPr>
          <p:nvPr/>
        </p:nvSpPr>
        <p:spPr>
          <a:xfrm>
            <a:off x="4171950" y="1552575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Есть название, продукты внутри направления и цели. Команда выбрала удобный формат рассказа.</a:t>
            </a:r>
          </a:p>
        </p:txBody>
      </p:sp>
      <p:sp>
        <p:nvSpPr>
          <p:cNvPr id="10" name="check-rule-0">
            <a:extLst>
              <a:ext uri="{FF2B5EF4-FFF2-40B4-BE49-F238E27FC236}">
                <a16:creationId xmlns:a16="http://schemas.microsoft.com/office/drawing/2014/main" id="{F5230A49-7FBC-4003-9404-9A27CBA4A117}"/>
              </a:ext>
            </a:extLst>
          </p:cNvPr>
          <p:cNvSpPr>
            <a:spLocks noGrp="1"/>
          </p:cNvSpPr>
          <p:nvPr/>
        </p:nvSpPr>
        <p:spPr>
          <a:xfrm>
            <a:off x="457200" y="1992630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check-number-1">
            <a:extLst>
              <a:ext uri="{FF2B5EF4-FFF2-40B4-BE49-F238E27FC236}">
                <a16:creationId xmlns:a16="http://schemas.microsoft.com/office/drawing/2014/main" id="{4E1887B0-E467-4561-8D5F-5CDC660DDF2A}"/>
              </a:ext>
            </a:extLst>
          </p:cNvPr>
          <p:cNvSpPr>
            <a:spLocks noGrp="1"/>
          </p:cNvSpPr>
          <p:nvPr/>
        </p:nvSpPr>
        <p:spPr>
          <a:xfrm>
            <a:off x="457200" y="2211705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check-title-1">
            <a:extLst>
              <a:ext uri="{FF2B5EF4-FFF2-40B4-BE49-F238E27FC236}">
                <a16:creationId xmlns:a16="http://schemas.microsoft.com/office/drawing/2014/main" id="{0C3AC75F-528C-41F6-87A4-6874998283C9}"/>
              </a:ext>
            </a:extLst>
          </p:cNvPr>
          <p:cNvSpPr>
            <a:spLocks noGrp="1"/>
          </p:cNvSpPr>
          <p:nvPr/>
        </p:nvSpPr>
        <p:spPr>
          <a:xfrm>
            <a:off x="990600" y="2211705"/>
            <a:ext cx="3009900" cy="4333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Видны команды и ответственность</a:t>
            </a:r>
          </a:p>
        </p:txBody>
      </p:sp>
      <p:sp>
        <p:nvSpPr>
          <p:cNvPr id="13" name="check-description-1">
            <a:extLst>
              <a:ext uri="{FF2B5EF4-FFF2-40B4-BE49-F238E27FC236}">
                <a16:creationId xmlns:a16="http://schemas.microsoft.com/office/drawing/2014/main" id="{3CE24441-2351-4BC3-A190-FF56D5E29FBA}"/>
              </a:ext>
            </a:extLst>
          </p:cNvPr>
          <p:cNvSpPr>
            <a:spLocks noGrp="1"/>
          </p:cNvSpPr>
          <p:nvPr/>
        </p:nvSpPr>
        <p:spPr>
          <a:xfrm>
            <a:off x="4171950" y="2211705"/>
            <a:ext cx="7562850" cy="4333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Каждая команда связана со своими продуктами. Указаны PO, сотрудники, должности, ответственность и вид подчинения.</a:t>
            </a:r>
          </a:p>
        </p:txBody>
      </p:sp>
      <p:sp>
        <p:nvSpPr>
          <p:cNvPr id="14" name="check-rule-1">
            <a:extLst>
              <a:ext uri="{FF2B5EF4-FFF2-40B4-BE49-F238E27FC236}">
                <a16:creationId xmlns:a16="http://schemas.microsoft.com/office/drawing/2014/main" id="{C525837D-93EA-481E-B1EB-9E7B6323D87C}"/>
              </a:ext>
            </a:extLst>
          </p:cNvPr>
          <p:cNvSpPr>
            <a:spLocks noGrp="1"/>
          </p:cNvSpPr>
          <p:nvPr/>
        </p:nvSpPr>
        <p:spPr>
          <a:xfrm>
            <a:off x="457200" y="284511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check-number-2">
            <a:extLst>
              <a:ext uri="{FF2B5EF4-FFF2-40B4-BE49-F238E27FC236}">
                <a16:creationId xmlns:a16="http://schemas.microsoft.com/office/drawing/2014/main" id="{8B51FF1A-DCCF-49EE-91AD-9566C9396DE5}"/>
              </a:ext>
            </a:extLst>
          </p:cNvPr>
          <p:cNvSpPr>
            <a:spLocks noGrp="1"/>
          </p:cNvSpPr>
          <p:nvPr/>
        </p:nvSpPr>
        <p:spPr>
          <a:xfrm>
            <a:off x="457200" y="306419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check-title-2">
            <a:extLst>
              <a:ext uri="{FF2B5EF4-FFF2-40B4-BE49-F238E27FC236}">
                <a16:creationId xmlns:a16="http://schemas.microsoft.com/office/drawing/2014/main" id="{07E1B6A9-93F0-484B-B8CD-A6E60B7711E0}"/>
              </a:ext>
            </a:extLst>
          </p:cNvPr>
          <p:cNvSpPr>
            <a:spLocks noGrp="1"/>
          </p:cNvSpPr>
          <p:nvPr/>
        </p:nvSpPr>
        <p:spPr>
          <a:xfrm>
            <a:off x="990600" y="306419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Динамика метрик на одном слайде</a:t>
            </a:r>
          </a:p>
        </p:txBody>
      </p:sp>
      <p:sp>
        <p:nvSpPr>
          <p:cNvPr id="17" name="check-description-2">
            <a:extLst>
              <a:ext uri="{FF2B5EF4-FFF2-40B4-BE49-F238E27FC236}">
                <a16:creationId xmlns:a16="http://schemas.microsoft.com/office/drawing/2014/main" id="{80A8968C-FEF0-42AB-8DF5-67F7620BABD7}"/>
              </a:ext>
            </a:extLst>
          </p:cNvPr>
          <p:cNvSpPr>
            <a:spLocks noGrp="1"/>
          </p:cNvSpPr>
          <p:nvPr/>
        </p:nvSpPr>
        <p:spPr>
          <a:xfrm>
            <a:off x="4171950" y="306419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Рядом показаны план Q3, факт Q3 и план Q4. Единицы, период и охват сопоставимы.</a:t>
            </a:r>
          </a:p>
        </p:txBody>
      </p:sp>
      <p:sp>
        <p:nvSpPr>
          <p:cNvPr id="18" name="check-rule-2">
            <a:extLst>
              <a:ext uri="{FF2B5EF4-FFF2-40B4-BE49-F238E27FC236}">
                <a16:creationId xmlns:a16="http://schemas.microsoft.com/office/drawing/2014/main" id="{19AC110E-9864-4E31-802E-5D63026FB00D}"/>
              </a:ext>
            </a:extLst>
          </p:cNvPr>
          <p:cNvSpPr>
            <a:spLocks noGrp="1"/>
          </p:cNvSpPr>
          <p:nvPr/>
        </p:nvSpPr>
        <p:spPr>
          <a:xfrm>
            <a:off x="457200" y="350424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check-number-3">
            <a:extLst>
              <a:ext uri="{FF2B5EF4-FFF2-40B4-BE49-F238E27FC236}">
                <a16:creationId xmlns:a16="http://schemas.microsoft.com/office/drawing/2014/main" id="{C742E24C-7450-41C1-8E5C-18A4DD6436A8}"/>
              </a:ext>
            </a:extLst>
          </p:cNvPr>
          <p:cNvSpPr>
            <a:spLocks noGrp="1"/>
          </p:cNvSpPr>
          <p:nvPr/>
        </p:nvSpPr>
        <p:spPr>
          <a:xfrm>
            <a:off x="457200" y="372332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check-title-3">
            <a:extLst>
              <a:ext uri="{FF2B5EF4-FFF2-40B4-BE49-F238E27FC236}">
                <a16:creationId xmlns:a16="http://schemas.microsoft.com/office/drawing/2014/main" id="{E4B50D85-8A11-4F25-9410-9B28569088D8}"/>
              </a:ext>
            </a:extLst>
          </p:cNvPr>
          <p:cNvSpPr>
            <a:spLocks noGrp="1"/>
          </p:cNvSpPr>
          <p:nvPr/>
        </p:nvSpPr>
        <p:spPr>
          <a:xfrm>
            <a:off x="990600" y="372332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Причины отклонений объяснены</a:t>
            </a:r>
          </a:p>
        </p:txBody>
      </p:sp>
      <p:sp>
        <p:nvSpPr>
          <p:cNvPr id="21" name="check-description-3">
            <a:extLst>
              <a:ext uri="{FF2B5EF4-FFF2-40B4-BE49-F238E27FC236}">
                <a16:creationId xmlns:a16="http://schemas.microsoft.com/office/drawing/2014/main" id="{FDFBDD59-D9CE-41AE-AFDF-0D138B0AFF2C}"/>
              </a:ext>
            </a:extLst>
          </p:cNvPr>
          <p:cNvSpPr>
            <a:spLocks noGrp="1"/>
          </p:cNvSpPr>
          <p:nvPr/>
        </p:nvSpPr>
        <p:spPr>
          <a:xfrm>
            <a:off x="4171950" y="372332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Пояснения краткие и находятся рядом с метриками. Непроверенные причины обозначены как гипотезы.</a:t>
            </a:r>
          </a:p>
        </p:txBody>
      </p:sp>
      <p:sp>
        <p:nvSpPr>
          <p:cNvPr id="22" name="check-rule-3">
            <a:extLst>
              <a:ext uri="{FF2B5EF4-FFF2-40B4-BE49-F238E27FC236}">
                <a16:creationId xmlns:a16="http://schemas.microsoft.com/office/drawing/2014/main" id="{1554DB97-92D3-43C0-9EB3-1A1C1D27FD35}"/>
              </a:ext>
            </a:extLst>
          </p:cNvPr>
          <p:cNvSpPr>
            <a:spLocks noGrp="1"/>
          </p:cNvSpPr>
          <p:nvPr/>
        </p:nvSpPr>
        <p:spPr>
          <a:xfrm>
            <a:off x="457200" y="4163377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3" name="check-number-4">
            <a:extLst>
              <a:ext uri="{FF2B5EF4-FFF2-40B4-BE49-F238E27FC236}">
                <a16:creationId xmlns:a16="http://schemas.microsoft.com/office/drawing/2014/main" id="{236EA012-96C1-4749-ACDA-4B8FEE90634B}"/>
              </a:ext>
            </a:extLst>
          </p:cNvPr>
          <p:cNvSpPr>
            <a:spLocks noGrp="1"/>
          </p:cNvSpPr>
          <p:nvPr/>
        </p:nvSpPr>
        <p:spPr>
          <a:xfrm>
            <a:off x="457200" y="438245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check-title-4">
            <a:extLst>
              <a:ext uri="{FF2B5EF4-FFF2-40B4-BE49-F238E27FC236}">
                <a16:creationId xmlns:a16="http://schemas.microsoft.com/office/drawing/2014/main" id="{BC3CA7F5-2D80-42F4-954A-67FBC3F90A2E}"/>
              </a:ext>
            </a:extLst>
          </p:cNvPr>
          <p:cNvSpPr>
            <a:spLocks noGrp="1"/>
          </p:cNvSpPr>
          <p:nvPr/>
        </p:nvSpPr>
        <p:spPr>
          <a:xfrm>
            <a:off x="990600" y="438245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План работ сопоставлен с фактом</a:t>
            </a:r>
          </a:p>
        </p:txBody>
      </p:sp>
      <p:sp>
        <p:nvSpPr>
          <p:cNvPr id="25" name="check-description-4">
            <a:extLst>
              <a:ext uri="{FF2B5EF4-FFF2-40B4-BE49-F238E27FC236}">
                <a16:creationId xmlns:a16="http://schemas.microsoft.com/office/drawing/2014/main" id="{1568FEFE-2184-4946-9CC4-6697FBDE5D8A}"/>
              </a:ext>
            </a:extLst>
          </p:cNvPr>
          <p:cNvSpPr>
            <a:spLocks noGrp="1"/>
          </p:cNvSpPr>
          <p:nvPr/>
        </p:nvSpPr>
        <p:spPr>
          <a:xfrm>
            <a:off x="4171950" y="438245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Понятно, что поставлено, что сделано частично и что не выполнено. У исследований есть вывод и решение.</a:t>
            </a:r>
          </a:p>
        </p:txBody>
      </p:sp>
      <p:sp>
        <p:nvSpPr>
          <p:cNvPr id="26" name="check-rule-4">
            <a:extLst>
              <a:ext uri="{FF2B5EF4-FFF2-40B4-BE49-F238E27FC236}">
                <a16:creationId xmlns:a16="http://schemas.microsoft.com/office/drawing/2014/main" id="{C8B1B9F5-06F9-4623-B68E-0063086ACD66}"/>
              </a:ext>
            </a:extLst>
          </p:cNvPr>
          <p:cNvSpPr>
            <a:spLocks noGrp="1"/>
          </p:cNvSpPr>
          <p:nvPr/>
        </p:nvSpPr>
        <p:spPr>
          <a:xfrm>
            <a:off x="457200" y="482250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check-number-5">
            <a:extLst>
              <a:ext uri="{FF2B5EF4-FFF2-40B4-BE49-F238E27FC236}">
                <a16:creationId xmlns:a16="http://schemas.microsoft.com/office/drawing/2014/main" id="{250666A1-DE23-4EAE-AC2F-BD81B29F357C}"/>
              </a:ext>
            </a:extLst>
          </p:cNvPr>
          <p:cNvSpPr>
            <a:spLocks noGrp="1"/>
          </p:cNvSpPr>
          <p:nvPr/>
        </p:nvSpPr>
        <p:spPr>
          <a:xfrm>
            <a:off x="457200" y="504158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8" name="check-title-5">
            <a:extLst>
              <a:ext uri="{FF2B5EF4-FFF2-40B4-BE49-F238E27FC236}">
                <a16:creationId xmlns:a16="http://schemas.microsoft.com/office/drawing/2014/main" id="{342FE883-C69F-4A31-B3A6-45FD34AA68D4}"/>
              </a:ext>
            </a:extLst>
          </p:cNvPr>
          <p:cNvSpPr>
            <a:spLocks noGrp="1"/>
          </p:cNvSpPr>
          <p:nvPr/>
        </p:nvSpPr>
        <p:spPr>
          <a:xfrm>
            <a:off x="990600" y="504158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Планы Q4 конкретны</a:t>
            </a:r>
          </a:p>
        </p:txBody>
      </p:sp>
      <p:sp>
        <p:nvSpPr>
          <p:cNvPr id="29" name="check-description-5">
            <a:extLst>
              <a:ext uri="{FF2B5EF4-FFF2-40B4-BE49-F238E27FC236}">
                <a16:creationId xmlns:a16="http://schemas.microsoft.com/office/drawing/2014/main" id="{D074F471-C5C8-4723-9031-42B3330F4B54}"/>
              </a:ext>
            </a:extLst>
          </p:cNvPr>
          <p:cNvSpPr>
            <a:spLocks noGrp="1"/>
          </p:cNvSpPr>
          <p:nvPr/>
        </p:nvSpPr>
        <p:spPr>
          <a:xfrm>
            <a:off x="4171950" y="504158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 ключевых работ есть ожидаемый результат и срок. Демо Q3 отделено от макетов и идей Q4.</a:t>
            </a:r>
          </a:p>
        </p:txBody>
      </p:sp>
      <p:sp>
        <p:nvSpPr>
          <p:cNvPr id="30" name="check-rule-5">
            <a:extLst>
              <a:ext uri="{FF2B5EF4-FFF2-40B4-BE49-F238E27FC236}">
                <a16:creationId xmlns:a16="http://schemas.microsoft.com/office/drawing/2014/main" id="{5060289D-04D0-443C-B32F-B201B9F0F77E}"/>
              </a:ext>
            </a:extLst>
          </p:cNvPr>
          <p:cNvSpPr>
            <a:spLocks noGrp="1"/>
          </p:cNvSpPr>
          <p:nvPr/>
        </p:nvSpPr>
        <p:spPr>
          <a:xfrm>
            <a:off x="457200" y="548163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check-number-6">
            <a:extLst>
              <a:ext uri="{FF2B5EF4-FFF2-40B4-BE49-F238E27FC236}">
                <a16:creationId xmlns:a16="http://schemas.microsoft.com/office/drawing/2014/main" id="{11DB3498-3D74-46B6-AA22-502372AA7DF7}"/>
              </a:ext>
            </a:extLst>
          </p:cNvPr>
          <p:cNvSpPr>
            <a:spLocks noGrp="1"/>
          </p:cNvSpPr>
          <p:nvPr/>
        </p:nvSpPr>
        <p:spPr>
          <a:xfrm>
            <a:off x="457200" y="5700713"/>
            <a:ext cx="3619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319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2" name="check-title-6">
            <a:extLst>
              <a:ext uri="{FF2B5EF4-FFF2-40B4-BE49-F238E27FC236}">
                <a16:creationId xmlns:a16="http://schemas.microsoft.com/office/drawing/2014/main" id="{90A98961-9D8A-441F-A6D2-A8A10145EF89}"/>
              </a:ext>
            </a:extLst>
          </p:cNvPr>
          <p:cNvSpPr>
            <a:spLocks noGrp="1"/>
          </p:cNvSpPr>
          <p:nvPr/>
        </p:nvSpPr>
        <p:spPr>
          <a:xfrm>
            <a:off x="990600" y="5700713"/>
            <a:ext cx="300990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Запросы к директору ясны</a:t>
            </a:r>
          </a:p>
        </p:txBody>
      </p:sp>
      <p:sp>
        <p:nvSpPr>
          <p:cNvPr id="33" name="check-description-6">
            <a:extLst>
              <a:ext uri="{FF2B5EF4-FFF2-40B4-BE49-F238E27FC236}">
                <a16:creationId xmlns:a16="http://schemas.microsoft.com/office/drawing/2014/main" id="{D8D0CEF2-80E9-4A67-827E-27489BB0E314}"/>
              </a:ext>
            </a:extLst>
          </p:cNvPr>
          <p:cNvSpPr>
            <a:spLocks noGrp="1"/>
          </p:cNvSpPr>
          <p:nvPr/>
        </p:nvSpPr>
        <p:spPr>
          <a:xfrm>
            <a:off x="4171950" y="5700713"/>
            <a:ext cx="756285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У критических вопросов есть ответственный, срок, влияние на результат и необходимое решение.</a:t>
            </a:r>
          </a:p>
        </p:txBody>
      </p:sp>
      <p:sp>
        <p:nvSpPr>
          <p:cNvPr id="34" name="check-rule-6">
            <a:extLst>
              <a:ext uri="{FF2B5EF4-FFF2-40B4-BE49-F238E27FC236}">
                <a16:creationId xmlns:a16="http://schemas.microsoft.com/office/drawing/2014/main" id="{9987CA4D-B1F9-4C0A-90C7-F2D4EA67F74E}"/>
              </a:ext>
            </a:extLst>
          </p:cNvPr>
          <p:cNvSpPr>
            <a:spLocks noGrp="1"/>
          </p:cNvSpPr>
          <p:nvPr/>
        </p:nvSpPr>
        <p:spPr>
          <a:xfrm>
            <a:off x="457200" y="6140768"/>
            <a:ext cx="11277600" cy="0"/>
          </a:xfrm>
          <a:prstGeom prst="line">
            <a:avLst/>
          </a:prstGeom>
          <a:noFill/>
          <a:ln w="9525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019985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2239</Words>
  <Application>Microsoft Office PowerPoint</Application>
  <DocSecurity>0</DocSecurity>
  <PresentationFormat>Широкоэкранный</PresentationFormat>
  <Paragraphs>379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Calibri</vt:lpstr>
      <vt:lpstr>Helvetica Neue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Капранов Богдан (HQ)</cp:lastModifiedBy>
  <cp:revision>3</cp:revision>
  <dcterms:created xsi:type="dcterms:W3CDTF">2026-10-01T10:33:30Z</dcterms:created>
  <dcterms:modified xsi:type="dcterms:W3CDTF">2026-10-12T15:42:26Z</dcterms:modified>
</cp:coreProperties>
</file>