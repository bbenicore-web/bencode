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56032"/>
            <a:ext cx="11411712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82828"/>
                </a:solidFill>
                <a:latin typeface="GT Walsheim Pro"/>
                <a:ea typeface="GT Walsheim Pro"/>
                <a:cs typeface="GT Walsheim Pro"/>
              </a:rPr>
              <a:t>ЦЕЛЕВОЙ СЦЕНАРИЙ MNP СНИМАЕТ 48 БАРЬЕРОВ ИЗ 68, В ТОМ ЧИСЛЕ 26 КРИТИЧЕСКИХ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1060704"/>
            <a:ext cx="7818120" cy="2212848"/>
          </a:xfrm>
          <a:prstGeom prst="roundRect">
            <a:avLst>
              <a:gd name="adj" fmla="val 7000"/>
            </a:avLst>
          </a:prstGeom>
          <a:noFill/>
          <a:ln w="19050">
            <a:solidFill>
              <a:srgbClr val="73198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4754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82828"/>
                </a:solidFill>
                <a:latin typeface="GT Walsheim Pro"/>
                <a:ea typeface="GT Walsheim Pro"/>
                <a:cs typeface="GT Walsheim Pro"/>
              </a:rPr>
              <a:t>КАК СЕЙЧАС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1115568"/>
            <a:ext cx="2788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31982"/>
                </a:solidFill>
                <a:latin typeface="GT Walsheim Pro"/>
                <a:ea typeface="GT Walsheim Pro"/>
                <a:cs typeface="GT Walsheim Pro"/>
              </a:rPr>
              <a:t>ВАРИАНТ А · ПРЕЗЕНТАЦИЯ 1</a:t>
            </a:r>
          </a:p>
        </p:txBody>
      </p:sp>
      <p:pic>
        <p:nvPicPr>
          <p:cNvPr id="6" name="Picture 5" descr="as-w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504728"/>
            <a:ext cx="7525512" cy="156254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84048" y="3383280"/>
            <a:ext cx="7818120" cy="2907792"/>
          </a:xfrm>
          <a:prstGeom prst="roundRect">
            <a:avLst>
              <a:gd name="adj" fmla="val 5500"/>
            </a:avLst>
          </a:prstGeom>
          <a:noFill/>
          <a:ln w="19050">
            <a:solidFill>
              <a:srgbClr val="00B95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3438144"/>
            <a:ext cx="4754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82828"/>
                </a:solidFill>
                <a:latin typeface="GT Walsheim Pro"/>
                <a:ea typeface="GT Walsheim Pro"/>
                <a:cs typeface="GT Walsheim Pro"/>
              </a:rPr>
              <a:t>КАК СТАНЕТ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3438144"/>
            <a:ext cx="2788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B956"/>
                </a:solidFill>
                <a:latin typeface="GT Walsheim Pro"/>
                <a:ea typeface="GT Walsheim Pro"/>
                <a:cs typeface="GT Walsheim Pro"/>
              </a:rPr>
              <a:t>ВАРИАНТ B · ЦЕЛЕВОЙ СЦЕНАРИЙ</a:t>
            </a:r>
          </a:p>
        </p:txBody>
      </p:sp>
      <p:pic>
        <p:nvPicPr>
          <p:cNvPr id="10" name="Picture 9" descr="as-w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27" y="3767328"/>
            <a:ext cx="7418961" cy="23774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357616" y="1060704"/>
            <a:ext cx="3438144" cy="5230368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00B95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22208" y="1133856"/>
            <a:ext cx="31089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B956"/>
                </a:solidFill>
                <a:latin typeface="GT Walsheim Pro"/>
                <a:ea typeface="GT Walsheim Pro"/>
                <a:cs typeface="GT Walsheim Pro"/>
              </a:rPr>
              <a:t>БАРЬЕРЫ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2208" y="1426464"/>
            <a:ext cx="86868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82828"/>
                </a:solidFill>
                <a:latin typeface="GT Walsheim Pro"/>
                <a:ea typeface="GT Walsheim Pro"/>
                <a:cs typeface="GT Walsheim Pro"/>
              </a:rPr>
              <a:t>68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1426464"/>
            <a:ext cx="219456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82828"/>
                </a:solidFill>
                <a:latin typeface="GT Walsheim Pro"/>
                <a:ea typeface="GT Walsheim Pro"/>
                <a:cs typeface="GT Walsheim Pro"/>
              </a:rPr>
              <a:t>ВСЕГО БАРЬЕРОВ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22208" y="2066543"/>
            <a:ext cx="310896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2139696"/>
            <a:ext cx="86868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82828"/>
                </a:solidFill>
                <a:latin typeface="GT Walsheim Pro"/>
                <a:ea typeface="GT Walsheim Pro"/>
                <a:cs typeface="GT Walsheim Pro"/>
              </a:rPr>
              <a:t>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0032" y="2139696"/>
            <a:ext cx="219456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82828"/>
                </a:solidFill>
                <a:latin typeface="GT Walsheim Pro"/>
                <a:ea typeface="GT Walsheim Pro"/>
                <a:cs typeface="GT Walsheim Pro"/>
              </a:rPr>
              <a:t>КРИТИЧЕСКИХ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22208" y="2779776"/>
            <a:ext cx="310896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8" y="2852928"/>
            <a:ext cx="86868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B956"/>
                </a:solidFill>
                <a:latin typeface="GT Walsheim Pro"/>
                <a:ea typeface="GT Walsheim Pro"/>
                <a:cs typeface="GT Walsheim Pro"/>
              </a:rPr>
              <a:t>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0032" y="2852928"/>
            <a:ext cx="219456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82828"/>
                </a:solidFill>
                <a:latin typeface="GT Walsheim Pro"/>
                <a:ea typeface="GT Walsheim Pro"/>
                <a:cs typeface="GT Walsheim Pro"/>
              </a:rPr>
              <a:t>БУДЕТ РЕШЕНО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22208" y="3493008"/>
            <a:ext cx="310896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8" y="3566160"/>
            <a:ext cx="86868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B956"/>
                </a:solidFill>
                <a:latin typeface="GT Walsheim Pro"/>
                <a:ea typeface="GT Walsheim Pro"/>
                <a:cs typeface="GT Walsheim Pro"/>
              </a:rPr>
              <a:t>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3566160"/>
            <a:ext cx="219456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82828"/>
                </a:solidFill>
                <a:latin typeface="GT Walsheim Pro"/>
                <a:ea typeface="GT Walsheim Pro"/>
                <a:cs typeface="GT Walsheim Pro"/>
              </a:rPr>
              <a:t>КРИТИЧЕСКИХ БУДЕТ РЕШЕНО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22208" y="4206240"/>
            <a:ext cx="310896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22208" y="4279392"/>
            <a:ext cx="86868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731982"/>
                </a:solidFill>
                <a:latin typeface="GT Walsheim Pro"/>
                <a:ea typeface="GT Walsheim Pro"/>
                <a:cs typeface="GT Walsheim Pro"/>
              </a:rPr>
              <a:t>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4279392"/>
            <a:ext cx="219456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82828"/>
                </a:solidFill>
                <a:latin typeface="GT Walsheim Pro"/>
                <a:ea typeface="GT Walsheim Pro"/>
                <a:cs typeface="GT Walsheim Pro"/>
              </a:rPr>
              <a:t>НЕ БУДЕТ РЕШЕНО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22208" y="5138928"/>
            <a:ext cx="3108960" cy="987552"/>
          </a:xfrm>
          <a:prstGeom prst="roundRect">
            <a:avLst>
              <a:gd name="adj" fmla="val 8000"/>
            </a:avLst>
          </a:prstGeom>
          <a:solidFill>
            <a:srgbClr val="28B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l"/>
            <a:r>
              <a:rPr sz="1100" b="1">
                <a:solidFill>
                  <a:srgbClr val="FFFFFF"/>
                </a:solidFill>
                <a:latin typeface="GT Walsheim Pro"/>
                <a:ea typeface="GT Walsheim Pro"/>
                <a:cs typeface="GT Walsheim Pro"/>
              </a:rPr>
              <a:t>Запущен A/B-тест до 30.08. 31.08–02.09 — анализ и подведение итогов теста.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6382512"/>
            <a:ext cx="3840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GT Walsheim Pro"/>
                <a:ea typeface="GT Walsheim Pro"/>
                <a:cs typeface="GT Walsheim Pro"/>
              </a:rPr>
              <a:t>МегаФон | 31.08.2026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